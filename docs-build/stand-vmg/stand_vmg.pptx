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Сегодня разберём стенд Skyris для испытания винтомоторной группы — ВМГ. Винтомоторная группа — это связка из электродвигателя, регулятора оборотов, то есть ESC, и воздушного винта. Именно она создаёт тягу у дрона, и именно её характеристики определяют, сколько дрон поднимет и сколько пролетит.</a:t>
            </a:r>
          </a:p>
          <a:p/>
          <a:p>
            <a:r>
              <a:t>План такой: сначала посмотрим, что за стенд и что он измеряет, затем подготовку к работе, потом пройдём по всем трём страницам программы — управление тестом, настройки и результаты. В конце — система безопасности, рекомендуемый порядок испытания и действия при нештатной ситуации.</a:t>
            </a:r>
          </a:p>
          <a:p/>
          <a:p>
            <a:r>
              <a:t>Главная мысль, которую хочется донести: стенд — это измерительный прибор с вращающимся винтом. Измерения точны только при правильной подготовке, а безопасность обеспечивают не только защиты стенда, но и дисциплина оператора.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Шесть блоков. Первый — что за стенд и что он умеет измерять, плюс важная оговорка про паспортные ограничения. Второй — подготовка к работе: от установки двигателя до нажатия Connect.</a:t>
            </a:r>
          </a:p>
          <a:p/>
          <a:p>
            <a:r>
              <a:t>Третий блок самый большой — основная страница программы «Управление тестом»: строка состояния, телеметрия, ручное управление, параметры испытания и график. Четвёртый — страница настроек: калибровка и защита питания. Пятый — страница результатов: как открыть испытание, сравнить его с другим и выгрузить отчёт.</a:t>
            </a:r>
          </a:p>
          <a:p/>
          <a:p>
            <a:r>
              <a:t>И шестой блок — безопасность. Он последний по порядку, но не по важности: к нему мы будем возвращаться на каждом шаге.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Стенд Skyris нужен, чтобы проверить и измерить характеристики винтомоторной группы — электродвигателя, регулятора оборотов ESC и воздушного винта. Испытываем их вместе, потому что тяга и потребление зависят от всей связки, а не от одного мотора.</a:t>
            </a:r>
          </a:p>
          <a:p/>
          <a:p>
            <a:r>
              <a:t>Во время работы стенд измеряет напряжение и ток, определяет общую тягу и по ним рассчитывает мощность и эффективность. Можно испытывать один канал или два одновременно, в ступенчатом или непрерывном режиме, и всё это время смотреть показания и графики в реальном времени.</a:t>
            </a:r>
          </a:p>
          <a:p/>
          <a:p>
            <a:r>
              <a:t>Данные сохраняются, и по ним строятся отчёты: например, можно сравнить два пропеллера на одном моторе и выбрать тот, что даёт больше тяги на ватт.</a:t>
            </a:r>
          </a:p>
          <a:p/>
          <a:p>
            <a:r>
              <a:t>За безопасностью следит система контроля защитных дверей, кнопки аварийной остановки и напряжения аккумулятора.</a:t>
            </a:r>
          </a:p>
          <a:p/>
          <a:p>
            <a:r>
              <a:t>По подключению: сам стенд питается от сети 220 вольт и подключается к компьютеру по USB. Двигатели питаются отдельно — от аккумулятора с разъёмом XT90 или от внешнего блока питания.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Посмотрим, что именно мы получаем со стенда. Каналов управления два.</a:t>
            </a:r>
          </a:p>
          <a:p/>
          <a:p>
            <a:r>
              <a:t>Напрямую измеряются три величины. Напряжение и ток — отдельно для первого и второго канала. Тяга — одним общим датчиком: если работают два мотора, датчик видит их суммарную тягу.</a:t>
            </a:r>
          </a:p>
          <a:p/>
          <a:p>
            <a:r>
              <a:t>Всё остальное программа рассчитывает. Мощность канала — это напряжение, умноженное на ток, в ваттах. Суммарная мощность — сумма мощностей активных каналов. Удельная эффективность — в граммах на ватт, то есть сколько граммов тяги мы получаем с каждого ватта. Это главный показатель при выборе пропеллера и мотора.</a:t>
            </a:r>
          </a:p>
          <a:p/>
          <a:p>
            <a:r>
              <a:t>Газ отображается в процентах или во внутренней шкале стенда от нуля до тысячи. А в двухканальном испытании дополнительно рассчитывается баланс мощности между каналами — он показывает, одинаково ли нагружены моторы.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Важная оговорка, прежде чем что-то запускать. Максимальное напряжение, ток, тяга, мощность двигателя, размеры винта, точность датчиков и продолжительность непрерывной работы определяются аппаратной версией стенда. В программном коде этих значений нет.</a:t>
            </a:r>
          </a:p>
          <a:p/>
          <a:p>
            <a:r>
              <a:t>Поэтому перед эксплуатацией нужно заполнить девять параметров из паспорта конкретного экземпляра: максимальное входное напряжение, максимальный ток одного канала, максимальную суммарную мощность, диапазон датчика тяги, погрешности измерения напряжения, тока и тяги, допустимый диаметр винта и допустимую длительность непрерывной работы. Поля на слайде можно заполнить прямо здесь, значениями вашего стенда.</a:t>
            </a:r>
          </a:p>
          <a:p/>
          <a:p>
            <a:r>
              <a:t>И главное правило: нельзя определять допустимую нагрузку по диапазонам полей программы. Если поле позволяет ввести сто процентов газа или сто тысяч секунд, это не значит, что стенд и ваша ВМГ это выдержат.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Подготовка — тринадцать шагов, сгруппированных в три этапа.</a:t>
            </a:r>
          </a:p>
          <a:p/>
          <a:p>
            <a:r>
              <a:t>Механика. Устанавливаем двигатель, ESC и воздушный винт на стенд. Проверяем крепёж двигателя и винта. Убеждаемся, что в зоне вращения нет посторонних предметов. Подключаем датчики и регуляторы к соответствующим каналам — первый мотор к первому каналу, второй ко второму.</a:t>
            </a:r>
          </a:p>
          <a:p/>
          <a:p>
            <a:r>
              <a:t>Питание и защита. Подключаем аккумулятор или блок питания, но газ не подаём. Закрываем защитные двери. Проверяем, что кнопка STOP отпущена — иначе стенд не даст запуститься.</a:t>
            </a:r>
          </a:p>
          <a:p/>
          <a:p>
            <a:r>
              <a:t>Программа. Подключаем USB-кабель стенда к компьютеру, запускаем программу, выбираем COM-порт и нажимаем Connect. Проверяем индикаторы безопасности и показания телеметрии. При необходимости обнуляем тягу и указываем параметры оборудования и испытания.</a:t>
            </a:r>
          </a:p>
          <a:p/>
          <a:p>
            <a:r>
              <a:t>И отдельно — провода. Их обязательно закрепить ремешком. Незакреплённый провод при вращении затягивает в винт, и его просто перерубит.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Программа состоит из трёх страниц, но верхняя панель доступна на всех.</a:t>
            </a:r>
          </a:p>
          <a:p/>
          <a:p>
            <a:r>
              <a:t>Слева — список COM: это обнаруженные последовательные порты, среди них выбираем порт стенда. Кнопка Connect подключает к выбранному порту, Disconnect — отключает. Состояние соединения видно по цветному индикатору и тексту рядом. Там же отображаются версии программы и прошивки стенда — их полезно называть, когда сообщаете о проблеме.</a:t>
            </a:r>
          </a:p>
          <a:p/>
          <a:p>
            <a:r>
              <a:t>Справа — красная кнопка «АВАРИЙНАЯ СТОП». Она немедленно останавливает все каналы. Клавиша Esc на клавиатуре делает то же самое — запомните это, рука до Esc дотягивается быстрее, чем до мышки.</a:t>
            </a:r>
          </a:p>
          <a:p/>
          <a:p>
            <a:r>
              <a:t>И полезная деталь: если отсоединить USB-кабель во время работы, программа перестанет обмениваться данными, освободит порт и снова будет готова к подключению. Перезапускать её не нужно.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Страница «Управление тестом» — основная рабочая страница. Здесь следим за состоянием стенда, смотрим телеметрию, управляем моторами вручную и запускаем автоматические испытания.</a:t>
            </a:r>
          </a:p>
          <a:p/>
          <a:p>
            <a:r>
              <a:t>Компоновка простая: всё управление — слева, график телеметрии — справа. Слева сверху вниз идут: строка состояния, телеметрия двух каналов, панели ручного управления, параметры испытания с пресетами и внизу кнопки «Запуск» и «Стоп».</a:t>
            </a:r>
          </a:p>
          <a:p/>
          <a:p>
            <a:r>
              <a:t>Дальше пройдём по каждому блоку отдельно, в том же порядке, в каком они расположены на экране.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верхней части страницы — строка состояния. Она отвечает на один вопрос: можно ли сейчас запускать.</a:t>
            </a:r>
          </a:p>
          <a:p/>
          <a:p>
            <a:r>
              <a:t>Общий индикатор бывает трёх цветов. Серый — соединения со стендом нет. Зелёный — стенд готов к запуску. Красный — испытание заблокировано.</a:t>
            </a:r>
          </a:p>
          <a:p/>
          <a:p>
            <a:r>
              <a:t>Справа — отдельные индикаторы для каждой защиты: обе защитные двери, кнопка STOP и защита аккумулятора. Зелёный цвет — нормальное состояние, красный — блокировка. Если общий индикатор красный, смотрим сюда и сразу видим причину: например, не закрыта вторая дверь.</a:t>
            </a:r>
          </a:p>
          <a:p/>
          <a:p>
            <a:r>
              <a:t>Здесь же отображается установленное ограничение по минимальному напряжению аккумулятора. На снимке написано «Ограничение напряжения: выключено» — так программа сообщает, что защита отключена. При работе от аккумулятора это повод остановиться и включить её.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Телеметрия разделена на два канала. Для каждого канала видим напряжение в вольтах, ток в амперах, мощность в ваттах и текущий уровень газа. Ниже — общие значения: суммарная мощность и тяга в граммах.</a:t>
            </a:r>
          </a:p>
          <a:p/>
          <a:p>
            <a:r>
              <a:t>Уровень газа можно смотреть в процентах от нуля до ста или во внутренней шкале стенда от нуля до тысячи — переключается кнопками «процент» и PWM. Важно: это только отображение. Фактическая команда мотору от переключения не меняется.</a:t>
            </a:r>
          </a:p>
          <a:p/>
          <a:p>
            <a:r>
              <a:t>Кнопка «Обнулить тягу» принимает текущее показание датчика за ноль. Пользоваться ей можно только при остановленных моторах. Если обнулить тягу на работающем моторе, ноль сместится, и все последующие измерения тяги будут занижены.</a:t>
            </a:r>
          </a:p>
          <a:p/>
          <a:p>
            <a:r>
              <a:t>Хорошая привычка перед испытанием: при нулевом газе посмотреть, что ток около нуля, напряжение соответствует источнику, а тяга — ноль.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каждого активного канала есть своя панель ручного управления.</a:t>
            </a:r>
          </a:p>
          <a:p/>
          <a:p>
            <a:r>
              <a:t>Сначала канал нужно разблокировать флажком «Разблок.». Если открыта защитная дверь, нажата кнопка STOP или сработала другая защита, разблокировка недоступна — это сделано специально.</a:t>
            </a:r>
          </a:p>
          <a:p/>
          <a:p>
            <a:r>
              <a:t>Дальше. Ползунок задаёт уровень газа от нуля до ста процентов. Кнопка «Тест 7%» запускает мотор на небольшом газу и работает только пока её удерживают: отпустили — мотор остановился. Это удобно, чтобы проверить направление вращения. Стрелки задают обычное или обратное направление. Кнопка «Стоп» сбрасывает газ выбранного канала.</a:t>
            </a:r>
          </a:p>
          <a:p/>
          <a:p>
            <a:r>
              <a:t>Правило: направление разрешается менять только при остановленном моторе. Сначала полная остановка, потом стрелка.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Блок параметров испытания. Выбираем, сколько моторов испытываем — один или два канала одновременно, и режим — ступенчатый или непрерывный.</a:t>
            </a:r>
          </a:p>
          <a:p/>
          <a:p>
            <a:r>
              <a:t>Задаём начальный и конечный уровень газа — в пределах от нуля до ста процентов, продолжительность — до ста тысяч секунд, и шаг для ступенчатого режима — от одного до ста процентов. Ещё раз напомню: широкие диапазоны полей — это возможности программы, а не допуски стенда. Реальные пределы — из паспорта.</a:t>
            </a:r>
          </a:p>
          <a:p/>
          <a:p>
            <a:r>
              <a:t>Перед запуском заполняем сведения об установленной ВМГ: название и размер двигателя, его Kv, модель и допустимый ток ESC, название, диаметр, шаг и количество лопастей пропеллера. При необходимости — описание условий испытания.</a:t>
            </a:r>
          </a:p>
          <a:p/>
          <a:p>
            <a:r>
              <a:t>Не ленитесь это заполнять: эти сведения сохраняются вместе с результатами и выводятся в отчётах. Через месяц по ним вы поймёте, какой пропеллер стоял в каком испытании.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Газ задаётся от нуля до ста процентов, и подавать его можно двумя способами.</a:t>
            </a:r>
          </a:p>
          <a:p/>
          <a:p>
            <a:r>
              <a:t>Ступенчатый режим: газ увеличивается с выбранным шагом и удерживается на каждом уровне заданное время. Получаем набор устоявшихся точек — например, тягу и ток на десяти, двадцати, тридцати процентах и так далее. Такие данные удобно усреднять и сводить в таблицу, поэтому ступенчатый режим — основной для отчётов.</a:t>
            </a:r>
          </a:p>
          <a:p/>
          <a:p>
            <a:r>
              <a:t>Непрерывный режим: газ плавно повышается от минимального до максимального значения. Это быстрый способ увидеть всю кривую целиком, но значения в каждой точке не успевают устояться.</a:t>
            </a:r>
          </a:p>
          <a:p/>
          <a:p>
            <a:r>
              <a:t>Несколько чисел, которые полезно знать. Телеметрия обновляется примерно двадцать пять раз в секунду. График хранит до тридцати тысяч последних точек — при двадцати пяти точках в секунду это около двадцати минут. И для проверки направления вращения есть кратковременный запуск на семи процентах газа.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Чтобы не вводить одни и те же настройки перед каждым испытанием, их сохраняют в пресет. В пресет входят сведения об оборудовании, режим и параметры испытания и настройки защиты аккумулятора.</a:t>
            </a:r>
          </a:p>
          <a:p/>
          <a:p>
            <a:r>
              <a:t>Кнопок три: «Загрузить» применяет выбранный пресет, «Сохранить» создаёт новый или обновляет существующий, «Удалить» удаляет выбранный. Если у вас остались пресеты от старой версии программы — ничего страшного, при загрузке они автоматически преобразуются в актуальную структуру.</a:t>
            </a:r>
          </a:p>
          <a:p/>
          <a:p>
            <a:r>
              <a:t>Теперь запуск. Кнопка «Запуск» сначала проверяет состояние защитных систем и только потом начинает автоматическое испытание. Если открыта дверь, нажата кнопка STOP или сработала защита аккумулятора, запуск будет заблокирован. Причину смотрим по красным индикаторам в строке состояния.</a:t>
            </a:r>
          </a:p>
          <a:p/>
          <a:p>
            <a:r>
              <a:t>Кнопка «Стоп» завершает активное испытание и останавливает моторы.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Справа на основной странице — график реального времени. Он показывает, как меняются напряжение, ток, мощность, тяга и уровень газа. Нужные линии выбираются в разделе «Серии».</a:t>
            </a:r>
          </a:p>
          <a:p/>
          <a:p>
            <a:r>
              <a:t>Поле «Окно» задаёт видимый интервал времени. Функция «Сглаж.» убирает мелкие колебания и «пилу» на линиях, а размер окна сглаживания задаётся в соседнем поле. Обратите внимание: фильтр меняет только картинку, сохранённые исходные данные он не трогает.</a:t>
            </a:r>
          </a:p>
          <a:p/>
          <a:p>
            <a:r>
              <a:t>Кнопки Zoom плюс и Zoom минус меняют масштаб, «Сброс» возвращает автоматическое отображение последних данных. «Пауза» временно останавливает обновление графика — удобно, чтобы рассмотреть момент, а испытание при этом продолжается. «Очистить» удаляет накопленные точки с экрана.</a:t>
            </a:r>
          </a:p>
          <a:p/>
          <a:p>
            <a:r>
              <a:t>Если провести указателем по графику, появится вертикальная линия, а под графиком — время и значения выбранных параметров в ближайшей точке.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Вторая страница — «Настройки». Здесь калибруют датчики, настраивают защиту питания и сохраняют конфигурацию стенда.</a:t>
            </a:r>
          </a:p>
          <a:p/>
          <a:p>
            <a:r>
              <a:t>Калибровка использует линейную зависимость: y равно k умножить на x плюс b. Коэффициент k отвечает за масштаб измерения, b — за смещение нулевой точки. Если, например, вольтметр показывает на два процента больше эталона, поправляем k; если при нуле показывает не ноль — поправляем b.</a:t>
            </a:r>
          </a:p>
          <a:p/>
          <a:p>
            <a:r>
              <a:t>Калибруются отдельно напряжение и ток обоих каналов и датчик тяги. Коэффициенты можно ввести вручную или рассчитать автоматически по эталонным значениям — для этого кнопка «Калибровать» у выбранного датчика. Для одновременной калибровки двух каналов напряжения есть кнопка «Калибровать U1 + U2».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Защита питания. Есть два режима.</a:t>
            </a:r>
          </a:p>
          <a:p/>
          <a:p>
            <a:r>
              <a:t>В режиме АКБ программа контролирует напряжение аккумулятора и блокирует запуск при разряде. Выбираем тип аккумулятора — LiPo или LiHV. Количество банок можно определить автоматически или задать вручную в поле «Банок, S». Автоматическое значение обязательно проверьте и зафиксируйте кнопкой «Подтвердить S». Почему: одно и то же общее напряжение иногда соответствует нескольким вариантам — например, разряженная 4S и заряженная 3S дают похожие вольты.</a:t>
            </a:r>
          </a:p>
          <a:p/>
          <a:p>
            <a:r>
              <a:t>Минимальное допустимое напряжение можно указать вручную. Если оставить ноль, программа посчитает порог сама из трёх с половиной вольт на банку. Кнопка «Применить» активирует выбранные параметры.</a:t>
            </a:r>
          </a:p>
          <a:p/>
          <a:p>
            <a:r>
              <a:t>Справочные цифры: обычный LiPo — до 4,20 вольта на банку, LiHV — до 4,35. Рекомендуемый минимальный порог — 3,50 вольта на банку. Программа работает с аккумуляторами от 1S до 16S.</a:t>
            </a:r>
          </a:p>
          <a:p/>
          <a:p>
            <a:r>
              <a:t>В режиме БП контроль разряда отключается: предполагается лабораторный блок питания.</a:t>
            </a:r>
          </a:p>
          <a:p/>
          <a:p>
            <a:r>
              <a:t>И служебные настройки — для администратора или ответственного за безопасность стенда. Там можно запретить игнорирование открытой двери, установить обязательный минимальный порог напряжения и заблокировать изменение пользовательских настроек.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Где что хранится.</a:t>
            </a:r>
          </a:p>
          <a:p/>
          <a:p>
            <a:r>
              <a:t>Настройки стенда — калибровки и защиту питания — можно сохранить в файл .ini кнопкой «Сохранить в файл» и восстановить кнопкой «Загрузить из файла». Но запомните: файл на компьютере не заменяет запись калибровок в память стенда. Это резервная копия, а не то, чем пользуется стенд.</a:t>
            </a:r>
          </a:p>
          <a:p/>
          <a:p>
            <a:r>
              <a:t>Результаты. Каждое завершённое испытание сохраняется в отдельной папке results, с названием испытания и датой. Внутри — исходные измерения в Excel, усреднённый отчёт, файл data.csv для повторного просмотра в программе и файл meta.json с параметрами оборудования, испытания и аккумулятора — то, что мы заполняли перед запуском.</a:t>
            </a:r>
          </a:p>
          <a:p/>
          <a:p>
            <a:r>
              <a:t>И приятная деталь: если испытание остановили вручную или оно прервалось из-за аварии, уже полученные измерения тоже сохраняются — если программа успела принять их со стенда.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Третья страница — «Результаты». Здесь открываем ранее проведённое испытание, подробно изучаем, сравниваем с другим и сохраняем данные в удобном формате.</a:t>
            </a:r>
          </a:p>
          <a:p/>
          <a:p>
            <a:r>
              <a:t>Кнопка «Загрузить A» открывает основной результат. Выбрать можно всю папку результата, файл data.csv или Excel-файл с исходными измерениями.</a:t>
            </a:r>
          </a:p>
          <a:p/>
          <a:p>
            <a:r>
              <a:t>Для сравнения нажимаем «Загрузить B» и выбираем второе испытание. Оба набора появятся на одном графике и будут отличаться цветом и стилем линий. Так удобно сравнивать, например, два пропеллера на одном моторе. Кнопка «Очистить B» убирает сравниваемый результат, не затрагивая основной.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ещё есть на странице результатов.</a:t>
            </a:r>
          </a:p>
          <a:p/>
          <a:p>
            <a:r>
              <a:t>График. В поле «Ось X» выбираем параметр горизонтальной оси — например, газ или ток. Для вертикальной оси можно отметить сразу несколько показателей: тягу, ток, напряжение, мощность. Кнопки Zoom и «Сброс» работают так же, как на основной странице, сглаживание делает линии ровнее. При наведении указателя курсор показывает значения загруженных испытаний в выбранной точке — сразу для A и B.</a:t>
            </a:r>
          </a:p>
          <a:p/>
          <a:p>
            <a:r>
              <a:t>Информация об испытании. После загрузки программа показывает название и дату, продолжительность, диапазоны напряжения и тока, значения мощности и тяги. И сохранённые сведения о двигателе, ESC, пропеллере и аккумуляторе — те самые, что мы заполняли перед запуском.</a:t>
            </a:r>
          </a:p>
          <a:p/>
          <a:p>
            <a:r>
              <a:t>Экспорт. «Сохранить график PNG» — картинка для отчёта или презентации. «Excel: сырые данные» — все измерения основного испытания без усреднения. «Excel: отчёт» — компактная таблица, где результаты сгруппированы и усреднены по уровням газа. Для сравнения пропеллеров обычно нужен именно отчёт.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Переходим к безопасности. Сначала — что делает сам стенд.</a:t>
            </a:r>
          </a:p>
          <a:p/>
          <a:p>
            <a:r>
              <a:t>Программа следит за четырьмя вещами: состоянием обеих защитных дверей, кнопкой STOP, напряжением аккумулятора и связью со стендом. Если обнаружено опасное состояние, запуск блокируется, а соответствующий индикатор становится красным.</a:t>
            </a:r>
          </a:p>
          <a:p/>
          <a:p>
            <a:r>
              <a:t>Если авария возникает во время работы, программа останавливает моторы, сбрасывает газ и блокирует ручное управление. То есть после аварии нельзя просто продолжить — нужно устранить причину и заново разблокировать каналы.</a:t>
            </a:r>
          </a:p>
          <a:p/>
          <a:p>
            <a:r>
              <a:t>Для экстренной остановки — кнопка «АВАРИЙНАЯ СТОП» в программе или клавиша Esc.</a:t>
            </a:r>
          </a:p>
          <a:p/>
          <a:p>
            <a:r>
              <a:t>Но защиты стенда — это последний рубеж, а не первый. Первый — оператор, который правильно собрал ВМГ и не подходит к работающему винту.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Теперь соберём всё в рекомендуемый порядок испытания — тринадцать шагов в четырёх этапах.</a:t>
            </a:r>
          </a:p>
          <a:p/>
          <a:p>
            <a:r>
              <a:t>Подключение. Подключаемся к стенду. Проверяем, что индикаторы дверей, STOP и аккумулятора зелёные. При нулевом газе смотрим напряжение, ток и тягу: ток около нуля, тяга около нуля. Обнуляем тягу.</a:t>
            </a:r>
          </a:p>
          <a:p/>
          <a:p>
            <a:r>
              <a:t>Настройка. Заполняем сведения об оборудовании. Выбираем один или два канала. Настраиваем режим, диапазон газа, время и шаг. При необходимости кратковременно проверяем направление вращения на семи процентах.</a:t>
            </a:r>
          </a:p>
          <a:p/>
          <a:p>
            <a:r>
              <a:t>Испытание. Закрываем и блокируем защитную зону. Нажимаем «Запуск». Контролируем телеметрию и график, не приближаясь к вращающимся деталям.</a:t>
            </a:r>
          </a:p>
          <a:p/>
          <a:p>
            <a:r>
              <a:t>Завершение. Убеждаемся, что моторы остановлены — только после этого можно открывать стенд. Открываем результат на странице «Результаты» и формируем отчёт.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Что делать, если что-то пошло не так.</a:t>
            </a:r>
          </a:p>
          <a:p/>
          <a:p>
            <a:r>
              <a:t>Испытание нужно немедленно остановить, если появились посторонние звуки или сильная вибрация, ослабло крепление двигателя или винта, или внутри защитной зоны остался посторонний предмет. Не ждите конца испытания — остановите сейчас.</a:t>
            </a:r>
          </a:p>
          <a:p/>
          <a:p>
            <a:r>
              <a:t>Особенно опасны дым, запах гари, искрение, перегрев или возгорание аккумулятора. В такой ситуации нажмите аппаратную кнопку аварийной остановки и, если это безопасно, отключите силовое питание. Не открывайте двери до полной остановки винта. Горящий аккумулятор нельзя трогать руками — действуйте по установленным правилам пожарной безопасности.</a:t>
            </a:r>
          </a:p>
          <a:p/>
          <a:p>
            <a:r>
              <a:t>И оговорка: открытие защитной двери или потеря USB-соединения тоже остановят испытание, и уже полученные данные программа сохранит. Но это аварийные пути, использовать их для обычной остановки не надо — для этого есть кнопка «Стоп».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Пять правил техники безопасности, которые действуют на каждом испытании.</a:t>
            </a:r>
          </a:p>
          <a:p/>
          <a:p>
            <a:r>
              <a:t>Первое: мотор, пропеллер и прочие элементы зафиксированы. Проверяем руками перед закрытием дверей.</a:t>
            </a:r>
          </a:p>
          <a:p/>
          <a:p>
            <a:r>
              <a:t>Второе: провода и другие электронные компоненты зафиксированы и при вращении не упадут в пропеллер. Это самая частая причина поломок — помните про ремешок.</a:t>
            </a:r>
          </a:p>
          <a:p/>
          <a:p>
            <a:r>
              <a:t>Третье: не просовывайте части тела и другие предметы за решётку во время испытания. Решётка защищает, только пока вы по эту сторону.</a:t>
            </a:r>
          </a:p>
          <a:p/>
          <a:p>
            <a:r>
              <a:t>Четвёртое: не открывайте дверь стенда во время выполнения испытания.</a:t>
            </a:r>
          </a:p>
          <a:p/>
          <a:p>
            <a:r>
              <a:t>Пятое: при работе от аккумулятора выставьте ограничения по напряжению и работайте только с ними. Переразряд портит аккумулятор и может закончиться его возгоранием.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Подведём итог.</a:t>
            </a:r>
          </a:p>
          <a:p/>
          <a:p>
            <a:r>
              <a:t>Подготовка: всё закреплено, провода на ремешке, двери закрыты, кнопка STOP отпущена.</a:t>
            </a:r>
          </a:p>
          <a:p/>
          <a:p>
            <a:r>
              <a:t>Перед запуском: индикаторы зелёные, тяга обнулена при остановленных моторах, сведения об оборудовании заполнены.</a:t>
            </a:r>
          </a:p>
          <a:p/>
          <a:p>
            <a:r>
              <a:t>Испытание: выбираем ступенчатый режим для отчёта или непрерывный для быстрой кривой и следим за графиком, не приближаясь к стенду.</a:t>
            </a:r>
          </a:p>
          <a:p/>
          <a:p>
            <a:r>
              <a:t>Результат: каждое испытание лежит в своей папке results, на странице «Результаты» его можно сравнить с другим и выгрузить отчёт в Excel.</a:t>
            </a:r>
          </a:p>
          <a:p/>
          <a:p>
            <a:r>
              <a:t>И главное, что стоит унести с собой: пределы нагрузки задаёт паспорт стенда, а не поля программы. Программа позволит ввести многое — отвечает за допустимость оператор.</a:t>
            </a:r>
          </a:p>
          <a:p/>
          <a:p>
            <a:r>
              <a:t>Спасибо, переходим к практике и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9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7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7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0"/>
            <a:ext cx="10566400" cy="685800"/>
          </a:xfrm>
          <a:prstGeom prst="rect">
            <a:avLst/>
          </a:prstGeom>
          <a:solidFill>
            <a:srgbClr val="25A3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" name="Picture 2" descr="cover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254000"/>
            <a:ext cx="1390650" cy="1778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763000" y="215900"/>
            <a:ext cx="2260600" cy="2603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763000" y="254000"/>
            <a:ext cx="235381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ts val="1439"/>
              </a:lnSpc>
            </a:pPr>
            <a:r>
              <a:rPr sz="1200" b="0" i="0">
                <a:solidFill>
                  <a:srgbClr val="25A3E1"/>
                </a:solidFill>
                <a:latin typeface="Montserrat"/>
              </a:rPr>
              <a:t>Стенд ВМГ · инструкция</a:t>
            </a:r>
          </a:p>
        </p:txBody>
      </p:sp>
      <p:pic>
        <p:nvPicPr>
          <p:cNvPr id="6" name="Picture 5" descr="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1563914"/>
            <a:ext cx="4064000" cy="393337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800" y="1602780"/>
            <a:ext cx="643509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0" i="0" spc="200">
                <a:solidFill>
                  <a:srgbClr val="888888"/>
                </a:solidFill>
                <a:latin typeface="Montserrat"/>
              </a:rPr>
              <a:t>SKYRIS · ИСПЫТАТЕЛЬНОЕ ОБОРУДОВАНИЕ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034580"/>
            <a:ext cx="6435090" cy="16457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320"/>
              </a:lnSpc>
            </a:pPr>
            <a:r>
              <a:rPr sz="4000" b="1" i="0">
                <a:solidFill>
                  <a:srgbClr val="141414"/>
                </a:solidFill>
                <a:latin typeface="Montserrat"/>
              </a:rPr>
              <a:t>Стенд испытания винтомоторной группы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3908921"/>
            <a:ext cx="6435090" cy="635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00"/>
              </a:lnSpc>
            </a:pPr>
            <a:r>
              <a:rPr sz="2000" b="0" i="0">
                <a:solidFill>
                  <a:srgbClr val="1A76A8"/>
                </a:solidFill>
                <a:latin typeface="Montserrat"/>
              </a:rPr>
              <a:t>Двигатель, ESC и воздушный винт: измерение, испытание, отчёт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4772521"/>
            <a:ext cx="6435090" cy="482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0" i="0">
                <a:solidFill>
                  <a:srgbClr val="6C7073"/>
                </a:solidFill>
                <a:latin typeface="Open Sans"/>
              </a:rPr>
              <a:t>Устройство стенда, программа управления, порядок испытания и техника безопасности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СОДЕРЖАНИЕ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От подготовки стенда до готового отчёта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24930"/>
          <a:ext cx="10566401" cy="26013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33909"/>
                <a:gridCol w="3169841"/>
                <a:gridCol w="6762651"/>
              </a:tblGrid>
              <a:tr h="368895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Open Sans"/>
                        </a:rPr>
                        <a:t>№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Open Sans"/>
                        </a:rPr>
                        <a:t>Раздел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Open Sans"/>
                        </a:rPr>
                        <a:t>Что разберём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72070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1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Open Sans"/>
                        </a:rPr>
                        <a:t>Стенд и характеристики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что испытывает и измеряет, каналы, паспортные ограничения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72070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2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Open Sans"/>
                        </a:rPr>
                        <a:t>Подготовка к работе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сборка ВМГ, подключение питания и компьютера, проверки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72070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3</a:t>
                      </a:r>
                    </a:p>
                  </a:txBody>
                  <a:tcPr marT="62230" marR="106680" marB="62230" marL="106680" anchor="t">
                    <a:solidFill>
                      <a:srgbClr val="E3F3FB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Open Sans"/>
                        </a:rPr>
                        <a:t>Управление тестом</a:t>
                      </a:r>
                    </a:p>
                  </a:txBody>
                  <a:tcPr marT="62230" marR="106680" marB="62230" marL="106680" anchor="t">
                    <a:solidFill>
                      <a:srgbClr val="E3F3FB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состояние, телеметрия, ручное управление, режимы, график</a:t>
                      </a:r>
                    </a:p>
                  </a:txBody>
                  <a:tcPr marT="62230" marR="106680" marB="62230" marL="106680" anchor="t">
                    <a:solidFill>
                      <a:srgbClr val="E3F3FB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72070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4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Open Sans"/>
                        </a:rPr>
                        <a:t>Настройки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калибровка датчиков, защита питания, сохранение данных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72070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5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Open Sans"/>
                        </a:rPr>
                        <a:t>Результаты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загрузка, сравнение двух испытаний, экспорт отчёта</a:t>
                      </a:r>
                    </a:p>
                  </a:txBody>
                  <a:tcPr marT="62230" marR="106680" marB="62230" marL="10668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72070"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6</a:t>
                      </a:r>
                    </a:p>
                  </a:txBody>
                  <a:tcPr marT="62230" marR="106680" marB="62230" marL="106680" anchor="t">
                    <a:solidFill>
                      <a:srgbClr val="F1F1F1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1" i="0">
                          <a:solidFill>
                            <a:srgbClr val="141414"/>
                          </a:solidFill>
                          <a:latin typeface="Open Sans"/>
                        </a:rPr>
                        <a:t>Безопасность</a:t>
                      </a:r>
                    </a:p>
                  </a:txBody>
                  <a:tcPr marT="62230" marR="106680" marB="62230" marL="106680" anchor="t">
                    <a:solidFill>
                      <a:srgbClr val="F1F1F1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680"/>
                        </a:lnSpc>
                      </a:pPr>
                      <a:r>
                        <a:rPr sz="1400" b="0" i="0">
                          <a:solidFill>
                            <a:srgbClr val="141414"/>
                          </a:solidFill>
                          <a:latin typeface="Open Sans"/>
                        </a:rPr>
                        <a:t>защиты стенда, порядок испытания, нештатные ситуации</a:t>
                      </a:r>
                    </a:p>
                  </a:txBody>
                  <a:tcPr marT="62230" marR="106680" marB="62230" marL="106680" anchor="t">
                    <a:solidFill>
                      <a:srgbClr val="F1F1F1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02 · Содержание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1 · СТЕНД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893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Стенд Skyris испытывает мотор, ESC и винт вместе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271911"/>
            <a:ext cx="3175000" cy="2921000"/>
          </a:xfrm>
          <a:prstGeom prst="roundRect">
            <a:avLst>
              <a:gd name="adj" fmla="val 34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st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14" y="2398911"/>
            <a:ext cx="2755572" cy="2667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241800" y="2271911"/>
            <a:ext cx="35052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94200" y="2424311"/>
            <a:ext cx="332181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Что испытывает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94200" y="2678311"/>
            <a:ext cx="3321812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электродвигатель, регулятор оборотов (ESC) и воздушный винт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74000" y="2271911"/>
            <a:ext cx="35052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026400" y="2424311"/>
            <a:ext cx="332181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Что измеряет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26400" y="2678311"/>
            <a:ext cx="3321812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напряжение, ток и общую тягу; рассчитывает мощность и эффективность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41800" y="3378200"/>
            <a:ext cx="3505200" cy="1189534"/>
          </a:xfrm>
          <a:prstGeom prst="roundRect">
            <a:avLst>
              <a:gd name="adj" fmla="val 747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94200" y="3530600"/>
            <a:ext cx="332181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Как испытывает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4200" y="3784600"/>
            <a:ext cx="3321812" cy="6307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один или два канала, ступенчатый или непрерывный режим, графики в реальном времени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74000" y="3378200"/>
            <a:ext cx="3505200" cy="1189534"/>
          </a:xfrm>
          <a:prstGeom prst="roundRect">
            <a:avLst>
              <a:gd name="adj" fmla="val 747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26400" y="3530600"/>
            <a:ext cx="332181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Что остаётся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6400" y="3784600"/>
            <a:ext cx="3321812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сохранённые данные — для отчётов и сравнения двигателей, ESC и пропеллеров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800" y="5370711"/>
            <a:ext cx="10566400" cy="485080"/>
          </a:xfrm>
          <a:prstGeom prst="roundRect">
            <a:avLst>
              <a:gd name="adj" fmla="val 15708"/>
            </a:avLst>
          </a:prstGeom>
          <a:solidFill>
            <a:srgbClr val="F1F1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90600" y="5497711"/>
            <a:ext cx="10542524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141414"/>
                </a:solidFill>
                <a:latin typeface="Open Sans"/>
              </a:rPr>
              <a:t>Стенд — сеть 220 В · компьютер — USB · моторы — АКБ с разъёмом XT90 или внешний блок питания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03 · Стенд испытания ВМГ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1 · ХАРАКТЕРИСТИКИ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Что измеряет и рассчитывает стенд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12800" y="1824930"/>
          <a:ext cx="10566400" cy="315079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169841"/>
                <a:gridCol w="5283200"/>
                <a:gridCol w="2113359"/>
              </a:tblGrid>
              <a:tr h="347266"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1" i="0">
                          <a:solidFill>
                            <a:srgbClr val="141414"/>
                          </a:solidFill>
                          <a:latin typeface="Open Sans"/>
                        </a:rPr>
                        <a:t>Величина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1" i="0">
                          <a:solidFill>
                            <a:srgbClr val="141414"/>
                          </a:solidFill>
                          <a:latin typeface="Open Sans"/>
                        </a:rPr>
                        <a:t>Как получается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1" i="0">
                          <a:solidFill>
                            <a:srgbClr val="141414"/>
                          </a:solidFill>
                          <a:latin typeface="Open Sans"/>
                        </a:rPr>
                        <a:t>Единица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1" i="0">
                          <a:solidFill>
                            <a:srgbClr val="141414"/>
                          </a:solidFill>
                          <a:latin typeface="Open Sans"/>
                        </a:rPr>
                        <a:t>Напряжение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измеряется отдельно для каналов 1 и 2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В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1" i="0">
                          <a:solidFill>
                            <a:srgbClr val="141414"/>
                          </a:solidFill>
                          <a:latin typeface="Open Sans"/>
                        </a:rPr>
                        <a:t>Ток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измеряется отдельно для каналов 1 и 2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А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1" i="0">
                          <a:solidFill>
                            <a:srgbClr val="141414"/>
                          </a:solidFill>
                          <a:latin typeface="Open Sans"/>
                        </a:rPr>
                        <a:t>Тяга</a:t>
                      </a:r>
                    </a:p>
                  </a:txBody>
                  <a:tcPr marT="57785" marR="99060" marB="57785" marL="99060" anchor="t">
                    <a:solidFill>
                      <a:srgbClr val="E3F3FB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один общий датчик на оба канала</a:t>
                      </a:r>
                    </a:p>
                  </a:txBody>
                  <a:tcPr marT="57785" marR="99060" marB="57785" marL="99060" anchor="t">
                    <a:solidFill>
                      <a:srgbClr val="E3F3FB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г</a:t>
                      </a:r>
                    </a:p>
                  </a:txBody>
                  <a:tcPr marT="57785" marR="99060" marB="57785" marL="99060" anchor="t">
                    <a:solidFill>
                      <a:srgbClr val="E3F3FB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Мощность канала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расчёт: напряжение × ток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Вт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Суммарная мощность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сумма мощности активных каналов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Вт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Удельная эффективность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расчёт: тяга на ватт мощности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г/Вт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Газ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проценты или шкала стенда 0–1000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%</a:t>
                      </a:r>
                    </a:p>
                  </a:txBody>
                  <a:tcPr marT="57785" marR="99060" marB="57785" marL="9906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50441"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Баланс мощности</a:t>
                      </a:r>
                    </a:p>
                  </a:txBody>
                  <a:tcPr marT="57785" marR="99060" marB="57785" marL="99060" anchor="t">
                    <a:solidFill>
                      <a:srgbClr val="F1F1F1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только в двухканальном испытании</a:t>
                      </a:r>
                    </a:p>
                  </a:txBody>
                  <a:tcPr marT="57785" marR="99060" marB="57785" marL="99060" anchor="t">
                    <a:solidFill>
                      <a:srgbClr val="F1F1F1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</a:pPr>
                      <a:r>
                        <a:rPr sz="1300" b="0" i="0">
                          <a:solidFill>
                            <a:srgbClr val="141414"/>
                          </a:solidFill>
                          <a:latin typeface="Open Sans"/>
                        </a:rPr>
                        <a:t>—</a:t>
                      </a:r>
                    </a:p>
                  </a:txBody>
                  <a:tcPr marT="57785" marR="99060" marB="57785" marL="99060" anchor="t">
                    <a:solidFill>
                      <a:srgbClr val="F1F1F1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12800" y="5156696"/>
            <a:ext cx="10908792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Каналов управления — </a:t>
            </a:r>
            <a:r>
              <a:rPr sz="1300" b="1" i="0">
                <a:solidFill>
                  <a:srgbClr val="3B3B3B"/>
                </a:solidFill>
                <a:latin typeface="Open Sans"/>
              </a:rPr>
              <a:t>2</a:t>
            </a:r>
            <a:r>
              <a:rPr sz="1300" b="0" i="0">
                <a:solidFill>
                  <a:srgbClr val="3B3B3B"/>
                </a:solidFill>
                <a:latin typeface="Open Sans"/>
              </a:rPr>
              <a:t>. Измеряются три величины, остальное программа рассчитывает.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04 · Измерительные каналы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1 · ПАСПОРТНЫЕ ОГРАНИЧЕНИЯ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893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Пределы стенда берутся только из паспорта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271911"/>
            <a:ext cx="9836150" cy="4976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60"/>
              </a:lnSpc>
            </a:pPr>
            <a:r>
              <a:rPr sz="1400" b="0" i="0">
                <a:solidFill>
                  <a:srgbClr val="3B3B3B"/>
                </a:solidFill>
                <a:latin typeface="Open Sans"/>
              </a:rPr>
              <a:t>Эти значения зависят от аппаратной версии стенда и в программе не заданы. Перед эксплуатацией впишите их из паспорта своего экземпляра: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2947392"/>
            <a:ext cx="3454400" cy="749995"/>
          </a:xfrm>
          <a:prstGeom prst="roundRect">
            <a:avLst>
              <a:gd name="adj" fmla="val 118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65200" y="3099792"/>
            <a:ext cx="326948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>
                <a:solidFill>
                  <a:srgbClr val="141414"/>
                </a:solidFill>
                <a:latin typeface="Montserrat"/>
              </a:rPr>
              <a:t>Максимальное входное напряжение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3334742"/>
            <a:ext cx="326948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 паспорту: ________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800" y="2947392"/>
            <a:ext cx="3454400" cy="749995"/>
          </a:xfrm>
          <a:prstGeom prst="roundRect">
            <a:avLst>
              <a:gd name="adj" fmla="val 118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21200" y="3099792"/>
            <a:ext cx="326948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>
                <a:solidFill>
                  <a:srgbClr val="141414"/>
                </a:solidFill>
                <a:latin typeface="Montserrat"/>
              </a:rPr>
              <a:t>Максимальный ток одного канала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1200" y="3334742"/>
            <a:ext cx="326948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 паспорту: ________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24800" y="2947392"/>
            <a:ext cx="3454400" cy="749995"/>
          </a:xfrm>
          <a:prstGeom prst="roundRect">
            <a:avLst>
              <a:gd name="adj" fmla="val 118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77200" y="3099792"/>
            <a:ext cx="326948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>
                <a:solidFill>
                  <a:srgbClr val="141414"/>
                </a:solidFill>
                <a:latin typeface="Montserrat"/>
              </a:rPr>
              <a:t>Максимальная суммарная мощность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7200" y="3334742"/>
            <a:ext cx="326948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 паспорту: ________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3798987"/>
            <a:ext cx="3454400" cy="749995"/>
          </a:xfrm>
          <a:prstGeom prst="roundRect">
            <a:avLst>
              <a:gd name="adj" fmla="val 118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5200" y="3951387"/>
            <a:ext cx="326948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>
                <a:solidFill>
                  <a:srgbClr val="141414"/>
                </a:solidFill>
                <a:latin typeface="Montserrat"/>
              </a:rPr>
              <a:t>Диапазон датчика тяги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4186337"/>
            <a:ext cx="326948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 паспорту: ________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8800" y="3798987"/>
            <a:ext cx="3454400" cy="749995"/>
          </a:xfrm>
          <a:prstGeom prst="roundRect">
            <a:avLst>
              <a:gd name="adj" fmla="val 118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21200" y="3951387"/>
            <a:ext cx="326948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>
                <a:solidFill>
                  <a:srgbClr val="141414"/>
                </a:solidFill>
                <a:latin typeface="Montserrat"/>
              </a:rPr>
              <a:t>Погрешность измерения напряжения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1200" y="4186337"/>
            <a:ext cx="326948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 паспорту: ________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4800" y="3798987"/>
            <a:ext cx="3454400" cy="749995"/>
          </a:xfrm>
          <a:prstGeom prst="roundRect">
            <a:avLst>
              <a:gd name="adj" fmla="val 118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077200" y="3951387"/>
            <a:ext cx="326948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>
                <a:solidFill>
                  <a:srgbClr val="141414"/>
                </a:solidFill>
                <a:latin typeface="Montserrat"/>
              </a:rPr>
              <a:t>Погрешность измерения тока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77200" y="4186337"/>
            <a:ext cx="326948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 паспорту: ________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4650581"/>
            <a:ext cx="3454400" cy="749995"/>
          </a:xfrm>
          <a:prstGeom prst="roundRect">
            <a:avLst>
              <a:gd name="adj" fmla="val 118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5200" y="4802981"/>
            <a:ext cx="326948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>
                <a:solidFill>
                  <a:srgbClr val="141414"/>
                </a:solidFill>
                <a:latin typeface="Montserrat"/>
              </a:rPr>
              <a:t>Погрешность измерения тяги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5037931"/>
            <a:ext cx="326948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 паспорту: 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68800" y="4650581"/>
            <a:ext cx="3454400" cy="749995"/>
          </a:xfrm>
          <a:prstGeom prst="roundRect">
            <a:avLst>
              <a:gd name="adj" fmla="val 118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521200" y="4802981"/>
            <a:ext cx="326948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>
                <a:solidFill>
                  <a:srgbClr val="141414"/>
                </a:solidFill>
                <a:latin typeface="Montserrat"/>
              </a:rPr>
              <a:t>Допустимый диаметр винта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1200" y="5037931"/>
            <a:ext cx="326948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 паспорту: ________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24800" y="4650581"/>
            <a:ext cx="3454400" cy="749995"/>
          </a:xfrm>
          <a:prstGeom prst="roundRect">
            <a:avLst>
              <a:gd name="adj" fmla="val 118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77200" y="4802981"/>
            <a:ext cx="3269488" cy="184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>
                <a:solidFill>
                  <a:srgbClr val="141414"/>
                </a:solidFill>
                <a:latin typeface="Montserrat"/>
              </a:rPr>
              <a:t>Длительность непрерывной работы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77200" y="5037931"/>
            <a:ext cx="326948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 паспорту: ________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800" y="5578376"/>
            <a:ext cx="10566400" cy="485080"/>
          </a:xfrm>
          <a:prstGeom prst="roundRect">
            <a:avLst>
              <a:gd name="adj" fmla="val 18326"/>
            </a:avLst>
          </a:prstGeom>
          <a:solidFill>
            <a:srgbClr val="E3F3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4" name="Picture 33" descr="passport_sv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5706566"/>
            <a:ext cx="228600" cy="2286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346200" y="5705376"/>
            <a:ext cx="10176256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141414"/>
                </a:solidFill>
                <a:latin typeface="Open Sans"/>
              </a:rPr>
              <a:t>Нельзя определять допустимую нагрузку только по диапазонам полей программы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05 · Паспортные ограничения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2 · ПОДГОТОВКА К РАБОТЕ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Подготовка к работе: 13 шагов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24930"/>
            <a:ext cx="3437434" cy="2509044"/>
          </a:xfrm>
          <a:prstGeom prst="roundRect">
            <a:avLst>
              <a:gd name="adj" fmla="val 354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1977330"/>
            <a:ext cx="3199689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Механика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2694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800" y="2269430"/>
            <a:ext cx="2859583" cy="4113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Установите двигатель, ESC и воздушный винт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769691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0800" y="2769691"/>
            <a:ext cx="2859583" cy="4113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Проверьте крепёж двигателя и винта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269952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0800" y="3269952"/>
            <a:ext cx="2859583" cy="4113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Уберите посторонние предметы из зоны вращения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770213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0800" y="3770213"/>
            <a:ext cx="2859583" cy="4113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Подключите датчики и регуляторы к своим каналам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7234" y="1824930"/>
            <a:ext cx="3437533" cy="2509044"/>
          </a:xfrm>
          <a:prstGeom prst="roundRect">
            <a:avLst>
              <a:gd name="adj" fmla="val 354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5034" y="1977330"/>
            <a:ext cx="3199791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Питание и защита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5034" y="22694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5234" y="2269430"/>
            <a:ext cx="2859685" cy="4113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Подключите АКБ или блок питания, не подавая газ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5034" y="2769691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85234" y="2769691"/>
            <a:ext cx="2859685" cy="205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Закройте защитные двери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5034" y="3064272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85234" y="3064272"/>
            <a:ext cx="2859685" cy="4113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Убедитесь, что кнопка STOP отпущена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41766" y="1824930"/>
            <a:ext cx="3437434" cy="2509044"/>
          </a:xfrm>
          <a:prstGeom prst="roundRect">
            <a:avLst>
              <a:gd name="adj" fmla="val 354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119566" y="1977330"/>
            <a:ext cx="3199689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Программа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9566" y="22694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766" y="2269430"/>
            <a:ext cx="2859583" cy="1885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3B3B3B"/>
                </a:solidFill>
                <a:latin typeface="Open Sans"/>
              </a:rPr>
              <a:t>Подключите USB-кабель к компьютеру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19566" y="25615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49766" y="2561530"/>
            <a:ext cx="2859583" cy="1885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3B3B3B"/>
                </a:solidFill>
                <a:latin typeface="Open Sans"/>
              </a:rPr>
              <a:t>Запустите программу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9566" y="28536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766" y="2853630"/>
            <a:ext cx="2859583" cy="1885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3B3B3B"/>
                </a:solidFill>
                <a:latin typeface="Open Sans"/>
              </a:rPr>
              <a:t>Выберите COM-порт, нажмите </a:t>
            </a:r>
            <a:r>
              <a:rPr sz="1100" b="1" i="0">
                <a:solidFill>
                  <a:srgbClr val="3B3B3B"/>
                </a:solidFill>
                <a:latin typeface="Open Sans"/>
              </a:rPr>
              <a:t>Connect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566" y="31457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766" y="3145730"/>
            <a:ext cx="2859583" cy="1885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3B3B3B"/>
                </a:solidFill>
                <a:latin typeface="Open Sans"/>
              </a:rPr>
              <a:t>Проверьте индикаторы и телеметрию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566" y="34378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9766" y="3437830"/>
            <a:ext cx="2859583" cy="1885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3B3B3B"/>
                </a:solidFill>
                <a:latin typeface="Open Sans"/>
              </a:rPr>
              <a:t>При необходимости обнулите тягу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566" y="37299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49766" y="3729930"/>
            <a:ext cx="2859583" cy="3770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85"/>
              </a:lnSpc>
            </a:pPr>
            <a:r>
              <a:rPr sz="1100" b="0" i="0">
                <a:solidFill>
                  <a:srgbClr val="3B3B3B"/>
                </a:solidFill>
                <a:latin typeface="Open Sans"/>
              </a:rPr>
              <a:t>Укажите параметры оборудования и испытания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2800" y="4511774"/>
            <a:ext cx="10566400" cy="485080"/>
          </a:xfrm>
          <a:prstGeom prst="roundRect">
            <a:avLst>
              <a:gd name="adj" fmla="val 18326"/>
            </a:avLst>
          </a:prstGeom>
          <a:solidFill>
            <a:srgbClr val="E3F3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38" name="Picture 37" descr="passport_sv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639965"/>
            <a:ext cx="22860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346200" y="4638774"/>
            <a:ext cx="10176256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141414"/>
                </a:solidFill>
                <a:latin typeface="Open Sans"/>
              </a:rPr>
              <a:t>Закрепите провода ремешком — иначе их затянет в винт и перерубит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06 · Подготовка к работе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3 · ПРОГРАММА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Верхняя панель — на всех страницах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24930"/>
            <a:ext cx="10566400" cy="927100"/>
          </a:xfrm>
          <a:prstGeom prst="roundRect">
            <a:avLst>
              <a:gd name="adj" fmla="val 1095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top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7736"/>
            <a:ext cx="10363200" cy="7214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2800" y="2929830"/>
            <a:ext cx="33909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5200" y="3082230"/>
            <a:ext cx="3204083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3336230"/>
            <a:ext cx="3204083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список обнаруженных последовательных портов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5300" y="2929830"/>
            <a:ext cx="33909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57700" y="3082230"/>
            <a:ext cx="3204083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Connect / Disconnect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57700" y="3336230"/>
            <a:ext cx="3204083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подключиться к выбранному порту или отключиться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010720"/>
            <a:ext cx="33909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5200" y="4163120"/>
            <a:ext cx="3204083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Индикатор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200" y="4417120"/>
            <a:ext cx="3204083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цвет и текст рядом показывают состояние соединения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05300" y="4010720"/>
            <a:ext cx="33909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57700" y="4163120"/>
            <a:ext cx="3204083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Версии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7700" y="4417120"/>
            <a:ext cx="3204083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версия программы и прошивки стенда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0200" y="2929830"/>
            <a:ext cx="3429000" cy="1652091"/>
          </a:xfrm>
          <a:prstGeom prst="roundRect">
            <a:avLst>
              <a:gd name="adj" fmla="val 5381"/>
            </a:avLst>
          </a:prstGeom>
          <a:solidFill>
            <a:srgbClr val="25A3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0" name="Picture 19" descr="es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0" y="3109233"/>
            <a:ext cx="2095500" cy="49844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28000" y="3710880"/>
            <a:ext cx="3191002" cy="6932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Немедленно останавливает все каналы. Клавиша </a:t>
            </a:r>
            <a:r>
              <a:rPr sz="1300" b="1" i="0">
                <a:solidFill>
                  <a:srgbClr val="FFFFFF"/>
                </a:solidFill>
                <a:latin typeface="Open Sans"/>
              </a:rPr>
              <a:t>Esc</a:t>
            </a:r>
            <a:r>
              <a:rPr sz="1300" b="0" i="0">
                <a:solidFill>
                  <a:srgbClr val="FFFFFF"/>
                </a:solidFill>
                <a:latin typeface="Open Sans"/>
              </a:rPr>
              <a:t> делает то же самое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800" y="5167809"/>
            <a:ext cx="10566400" cy="716161"/>
          </a:xfrm>
          <a:prstGeom prst="roundRect">
            <a:avLst>
              <a:gd name="adj" fmla="val 12413"/>
            </a:avLst>
          </a:prstGeom>
          <a:solidFill>
            <a:srgbClr val="F1F1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3" name="Picture 22" descr="interface_svg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00" y="5411589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46200" y="5294809"/>
            <a:ext cx="10176256" cy="4621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141414"/>
                </a:solidFill>
                <a:latin typeface="Open Sans"/>
              </a:rPr>
              <a:t>Отсоединили USB во время работы — программа прекратит обмен, освободит порт и снова будет готова к подключению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07 · Общие элементы интерфейса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3 · УПРАВЛЕНИЕ ТЕСТОМ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893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Основная страница: управление слева, график справа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271911"/>
            <a:ext cx="7061200" cy="3898900"/>
          </a:xfrm>
          <a:prstGeom prst="roundRect">
            <a:avLst>
              <a:gd name="adj" fmla="val 2605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5416"/>
            <a:ext cx="6858000" cy="36918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28000" y="2271911"/>
            <a:ext cx="3374136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Слева, сверху вниз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0" y="2564011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2564011"/>
            <a:ext cx="3034030" cy="2228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55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Строка состояния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2875756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2875756"/>
            <a:ext cx="3034030" cy="2228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55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Телеметрия двух каналов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3187502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3187502"/>
            <a:ext cx="3034030" cy="2228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55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Ручное управление каналами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8000" y="3499247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499247"/>
            <a:ext cx="3034030" cy="2228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55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Параметры испытания и пресеты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0" y="3810992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3810992"/>
            <a:ext cx="3034030" cy="2228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55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Запуск и Стоп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0" y="4198938"/>
            <a:ext cx="3374136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Справа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4491038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4491038"/>
            <a:ext cx="3034030" cy="2228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55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График реального времени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08 · Страница «Управление тестом»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3 · СТРОКА СОСТОЯНИЯ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255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Строка состояния: можно ли запускать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75730"/>
            <a:ext cx="10566400" cy="889000"/>
          </a:xfrm>
          <a:prstGeom prst="roundRect">
            <a:avLst>
              <a:gd name="adj" fmla="val 1142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78482"/>
            <a:ext cx="6985000" cy="6834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2800" y="2967930"/>
            <a:ext cx="3437434" cy="756345"/>
          </a:xfrm>
          <a:prstGeom prst="roundRect">
            <a:avLst>
              <a:gd name="adj" fmla="val 117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965200" y="314573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9B9B9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95400" y="3120330"/>
            <a:ext cx="2136346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Серый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3361630"/>
            <a:ext cx="2136346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соединения со стендом нет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7234" y="2967930"/>
            <a:ext cx="3437533" cy="756345"/>
          </a:xfrm>
          <a:prstGeom prst="roundRect">
            <a:avLst>
              <a:gd name="adj" fmla="val 117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529634" y="314573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2FA84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859834" y="3120330"/>
            <a:ext cx="1650203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Зелёный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9834" y="3361630"/>
            <a:ext cx="1650203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стенд готов к запуску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41766" y="2967930"/>
            <a:ext cx="3437434" cy="756345"/>
          </a:xfrm>
          <a:prstGeom prst="roundRect">
            <a:avLst>
              <a:gd name="adj" fmla="val 1175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94166" y="3145730"/>
            <a:ext cx="203200" cy="20320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424366" y="3120330"/>
            <a:ext cx="2090665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Красный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4366" y="3361630"/>
            <a:ext cx="2090665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испытание заблокировано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3927475"/>
            <a:ext cx="5336286" cy="4786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5"/>
              </a:lnSpc>
            </a:pPr>
            <a:r>
              <a:rPr sz="1300" b="1" i="0">
                <a:solidFill>
                  <a:srgbClr val="3B3B3B"/>
                </a:solidFill>
                <a:latin typeface="Open Sans"/>
              </a:rPr>
              <a:t>Дверь 1, Дверь 2, STOP, АКБ</a:t>
            </a:r>
            <a:r>
              <a:rPr sz="1300" b="0" i="0">
                <a:solidFill>
                  <a:srgbClr val="3B3B3B"/>
                </a:solidFill>
                <a:latin typeface="Open Sans"/>
              </a:rPr>
              <a:t> — свой индикатор у каждой защиты: зелёный — норма, красный — блокировка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000" y="3927475"/>
            <a:ext cx="5336286" cy="4786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5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Рядом — порог минимального напряжения АКБ. Если защита отключена, программа сообщает об этом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09 · Строка состояния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3 · ТЕЛЕМЕТРИЯ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Телеметрия: два канала и общие значения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24930"/>
            <a:ext cx="5410200" cy="2590800"/>
          </a:xfrm>
          <a:prstGeom prst="roundRect">
            <a:avLst>
              <a:gd name="adj" fmla="val 3921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tele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17" y="1926530"/>
            <a:ext cx="5203166" cy="23876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77000" y="1824930"/>
            <a:ext cx="4902200" cy="769045"/>
          </a:xfrm>
          <a:prstGeom prst="roundRect">
            <a:avLst>
              <a:gd name="adj" fmla="val 11559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29400" y="1977330"/>
            <a:ext cx="476072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На каждый канал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31330"/>
            <a:ext cx="4760722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напряжение, В · ток, А · мощность, Вт · уровень газа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77000" y="2695575"/>
            <a:ext cx="4902200" cy="769045"/>
          </a:xfrm>
          <a:prstGeom prst="roundRect">
            <a:avLst>
              <a:gd name="adj" fmla="val 11559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629400" y="2847975"/>
            <a:ext cx="476072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Общие значения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101975"/>
            <a:ext cx="4760722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суммарная мощность, Вт · тяга, 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7000" y="3566220"/>
            <a:ext cx="49022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629400" y="3718620"/>
            <a:ext cx="476072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Переключатель % / PWM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3972620"/>
            <a:ext cx="4760722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1" i="0">
                <a:solidFill>
                  <a:srgbClr val="3B3B3B"/>
                </a:solidFill>
                <a:latin typeface="Open Sans"/>
              </a:rPr>
              <a:t>%</a:t>
            </a:r>
            <a:r>
              <a:rPr sz="1200" b="0" i="0">
                <a:solidFill>
                  <a:srgbClr val="3B3B3B"/>
                </a:solidFill>
                <a:latin typeface="Open Sans"/>
              </a:rPr>
              <a:t> — 0–100 · </a:t>
            </a:r>
            <a:r>
              <a:rPr sz="1200" b="1" i="0">
                <a:solidFill>
                  <a:srgbClr val="3B3B3B"/>
                </a:solidFill>
                <a:latin typeface="Open Sans"/>
              </a:rPr>
              <a:t>PWM</a:t>
            </a:r>
            <a:r>
              <a:rPr sz="1200" b="0" i="0">
                <a:solidFill>
                  <a:srgbClr val="3B3B3B"/>
                </a:solidFill>
                <a:latin typeface="Open Sans"/>
              </a:rPr>
              <a:t> — шкала стенда 0–1000. Меняет только отображение, не команду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800" y="4723309"/>
            <a:ext cx="10566400" cy="485080"/>
          </a:xfrm>
          <a:prstGeom prst="roundRect">
            <a:avLst>
              <a:gd name="adj" fmla="val 18326"/>
            </a:avLst>
          </a:prstGeom>
          <a:solidFill>
            <a:srgbClr val="E3F3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" name="Picture 16" descr="telemetry_sv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4851499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46200" y="4850309"/>
            <a:ext cx="10176256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141414"/>
                </a:solidFill>
                <a:latin typeface="Open Sans"/>
              </a:rPr>
              <a:t>«Обнулить тягу» принимает текущее показание за ноль — только при остановленных моторах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10 · Телеметрия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3 · РУЧНОЕ УПРАВЛЕНИЕ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25550"/>
            <a:ext cx="9574530" cy="893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Ручное управление: сначала разблокировка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322711"/>
            <a:ext cx="10566400" cy="1314450"/>
          </a:xfrm>
          <a:prstGeom prst="roundRect">
            <a:avLst>
              <a:gd name="adj" fmla="val 7729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man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660" y="2424311"/>
            <a:ext cx="6335480" cy="11112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2800" y="3840361"/>
            <a:ext cx="2032000" cy="1610023"/>
          </a:xfrm>
          <a:prstGeom prst="roundRect">
            <a:avLst>
              <a:gd name="adj" fmla="val 5521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65200" y="3992761"/>
            <a:ext cx="1804416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Разблок.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5200" y="4246761"/>
            <a:ext cx="1804416" cy="105122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без неё канал не управляется; недоступна при открытой двери, STOP или другой защите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6400" y="3840361"/>
            <a:ext cx="2032000" cy="1610023"/>
          </a:xfrm>
          <a:prstGeom prst="roundRect">
            <a:avLst>
              <a:gd name="adj" fmla="val 5521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098800" y="3992761"/>
            <a:ext cx="1804416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Ползунок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8800" y="4246761"/>
            <a:ext cx="1804416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уровень газа от 0 до 100 %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80000" y="3840361"/>
            <a:ext cx="2032000" cy="1610023"/>
          </a:xfrm>
          <a:prstGeom prst="roundRect">
            <a:avLst>
              <a:gd name="adj" fmla="val 5521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232400" y="3992761"/>
            <a:ext cx="1804416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Тест 7%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2400" y="4246761"/>
            <a:ext cx="1804416" cy="6307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мотор на малом газу — только пока кнопку удерживают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13600" y="3840361"/>
            <a:ext cx="2032000" cy="1610023"/>
          </a:xfrm>
          <a:prstGeom prst="roundRect">
            <a:avLst>
              <a:gd name="adj" fmla="val 5521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66000" y="3992761"/>
            <a:ext cx="1804416" cy="2476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◀ 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6000" y="4291211"/>
            <a:ext cx="1804416" cy="84097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обычное или обратное направление вращения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7200" y="3840361"/>
            <a:ext cx="2032000" cy="1610023"/>
          </a:xfrm>
          <a:prstGeom prst="roundRect">
            <a:avLst>
              <a:gd name="adj" fmla="val 5521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499600" y="3992761"/>
            <a:ext cx="1804416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Стоп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99600" y="4246761"/>
            <a:ext cx="1804416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сбрасывает газ выбранного канала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2800" y="5653584"/>
            <a:ext cx="10566400" cy="485080"/>
          </a:xfrm>
          <a:prstGeom prst="roundRect">
            <a:avLst>
              <a:gd name="adj" fmla="val 18326"/>
            </a:avLst>
          </a:prstGeom>
          <a:solidFill>
            <a:srgbClr val="E3F3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3" name="Picture 22" descr="passport_sv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5781774"/>
            <a:ext cx="228600" cy="2286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346200" y="5780584"/>
            <a:ext cx="10176256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141414"/>
                </a:solidFill>
                <a:latin typeface="Open Sans"/>
              </a:rPr>
              <a:t>Направление вращения меняйте только после полной остановки мотора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11 · Ручное управление каналами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3 · ПАРАМЕТРЫ ИСПЫТАНИЯ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87450"/>
            <a:ext cx="9574530" cy="893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Параметры испытания и сведения об оборудовании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246511"/>
            <a:ext cx="4648200" cy="2159000"/>
          </a:xfrm>
          <a:prstGeom prst="roundRect">
            <a:avLst>
              <a:gd name="adj" fmla="val 4705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para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48302"/>
            <a:ext cx="4445000" cy="195541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15000" y="2246511"/>
          <a:ext cx="5664200" cy="1931591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52352"/>
                <a:gridCol w="3511848"/>
              </a:tblGrid>
              <a:tr h="319286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Поле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Значение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2246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Моторов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1 или 2 канала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2246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Режим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ступенчатый или непрерывный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2246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Мин % / Макс %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начальный и конечный газ, 0–100 %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2246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Ступ., с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время, до 100 000 с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2246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Шаг %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для ступенчатого режима, 1–100 %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812800" y="4570611"/>
            <a:ext cx="25654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5200" y="4723011"/>
            <a:ext cx="235381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Двигатель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4977011"/>
            <a:ext cx="235381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название, размер, Kv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9800" y="4570611"/>
            <a:ext cx="25654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32200" y="4723011"/>
            <a:ext cx="235381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ESC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2200" y="4977011"/>
            <a:ext cx="235381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модель, допустимый ток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6800" y="4570611"/>
            <a:ext cx="25654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4723011"/>
            <a:ext cx="235381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Пропеллер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4977011"/>
            <a:ext cx="2353818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название, диаметр, шаг, число лопастей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13800" y="4570611"/>
            <a:ext cx="25654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966200" y="4723011"/>
            <a:ext cx="235381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Условия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6200" y="4977011"/>
            <a:ext cx="2353818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описание условий испытания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5715000"/>
            <a:ext cx="10908792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Сведения сохраняются вместе с результатами и попадают в отчёты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12 · Параметры испытания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3 · УПРАВЛЕНИЕ ИСПЫТАНИЕМ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255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Два режима подачи газа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75730"/>
            <a:ext cx="5207000" cy="2754511"/>
          </a:xfrm>
          <a:prstGeom prst="roundRect">
            <a:avLst>
              <a:gd name="adj" fmla="val 3227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2053530"/>
            <a:ext cx="5022342" cy="234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</a:pPr>
            <a:r>
              <a:rPr sz="1500" b="1" i="0">
                <a:solidFill>
                  <a:srgbClr val="141414"/>
                </a:solidFill>
                <a:latin typeface="Montserrat"/>
              </a:rPr>
              <a:t>Ступенчатый</a:t>
            </a:r>
          </a:p>
        </p:txBody>
      </p:sp>
      <p:pic>
        <p:nvPicPr>
          <p:cNvPr id="7" name="Picture 6" descr="modes_sv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377380"/>
            <a:ext cx="4445000" cy="1524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90600" y="3990280"/>
            <a:ext cx="5022342" cy="4621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газ растёт с заданным шагом и держится на каждом уровне заданное время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75730"/>
            <a:ext cx="5207000" cy="2754511"/>
          </a:xfrm>
          <a:prstGeom prst="roundRect">
            <a:avLst>
              <a:gd name="adj" fmla="val 3227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50000" y="2053530"/>
            <a:ext cx="5022342" cy="234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</a:pPr>
            <a:r>
              <a:rPr sz="1500" b="1" i="0">
                <a:solidFill>
                  <a:srgbClr val="141414"/>
                </a:solidFill>
                <a:latin typeface="Montserrat"/>
              </a:rPr>
              <a:t>Непрерывный</a:t>
            </a:r>
          </a:p>
        </p:txBody>
      </p:sp>
      <p:pic>
        <p:nvPicPr>
          <p:cNvPr id="11" name="Picture 10" descr="modes_sv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000" y="2377380"/>
            <a:ext cx="4445000" cy="1524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50000" y="3990280"/>
            <a:ext cx="5022342" cy="4621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газ плавно растёт от минимального до максимального значения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800" y="4833441"/>
            <a:ext cx="2612529" cy="273050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77900" y="4884241"/>
            <a:ext cx="2376199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</a:pPr>
            <a:r>
              <a:rPr sz="1100" b="1" i="0">
                <a:solidFill>
                  <a:srgbClr val="141414"/>
                </a:solidFill>
                <a:latin typeface="Montserrat"/>
              </a:rPr>
              <a:t>Телеметрия ≈ 25 раз в секунду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77729" y="4833441"/>
            <a:ext cx="3126284" cy="273050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42829" y="4884241"/>
            <a:ext cx="2905366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</a:pPr>
            <a:r>
              <a:rPr sz="1100" b="1" i="0">
                <a:solidFill>
                  <a:srgbClr val="141414"/>
                </a:solidFill>
                <a:latin typeface="Montserrat"/>
              </a:rPr>
              <a:t>График — до 30 000 последних точек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6412" y="4833441"/>
            <a:ext cx="3338810" cy="273050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21512" y="4884241"/>
            <a:ext cx="3124268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</a:pPr>
            <a:r>
              <a:rPr sz="1100" b="1" i="0">
                <a:solidFill>
                  <a:srgbClr val="141414"/>
                </a:solidFill>
                <a:latin typeface="Montserrat"/>
              </a:rPr>
              <a:t>Проверка направления — кратко на 7 %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13 · Режимы испытания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3 · ПРЕСЕТЫ И ЗАПУСК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Пресеты, запуск и остановка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24930"/>
            <a:ext cx="5207000" cy="2370733"/>
          </a:xfrm>
          <a:prstGeom prst="roundRect">
            <a:avLst>
              <a:gd name="adj" fmla="val 3749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16000" y="2028130"/>
            <a:ext cx="4970018" cy="234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</a:pPr>
            <a:r>
              <a:rPr sz="1500" b="1" i="0">
                <a:solidFill>
                  <a:srgbClr val="141414"/>
                </a:solidFill>
                <a:latin typeface="Montserrat"/>
              </a:rPr>
              <a:t>Пресет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377380"/>
            <a:ext cx="4970018" cy="4621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сохраняет сведения об оборудовании, режим и параметры испытания, настройки защиты АКБ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6000" y="2953841"/>
            <a:ext cx="1079897" cy="273050"/>
          </a:xfrm>
          <a:prstGeom prst="roundRect">
            <a:avLst>
              <a:gd name="adj" fmla="val 50000"/>
            </a:avLst>
          </a:prstGeom>
          <a:solidFill>
            <a:srgbClr val="25A3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81100" y="3004641"/>
            <a:ext cx="797588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Загрузить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97497" y="2953841"/>
            <a:ext cx="1122263" cy="273050"/>
          </a:xfrm>
          <a:prstGeom prst="roundRect">
            <a:avLst>
              <a:gd name="adj" fmla="val 50000"/>
            </a:avLst>
          </a:prstGeom>
          <a:solidFill>
            <a:srgbClr val="25A3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2362597" y="3004641"/>
            <a:ext cx="841225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Сохранить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1360" y="2953841"/>
            <a:ext cx="945158" cy="273050"/>
          </a:xfrm>
          <a:prstGeom prst="roundRect">
            <a:avLst>
              <a:gd name="adj" fmla="val 50000"/>
            </a:avLst>
          </a:prstGeom>
          <a:solidFill>
            <a:srgbClr val="F1F1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586460" y="3004641"/>
            <a:ext cx="658807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</a:pPr>
            <a:r>
              <a:rPr sz="1100" b="1" i="0">
                <a:solidFill>
                  <a:srgbClr val="141414"/>
                </a:solidFill>
                <a:latin typeface="Montserrat"/>
              </a:rPr>
              <a:t>Удалить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000" y="3341191"/>
            <a:ext cx="4970018" cy="4266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Старые пресеты при загрузке автоматически преобразуются в актуальную структуру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824930"/>
            <a:ext cx="5207000" cy="2370733"/>
          </a:xfrm>
          <a:prstGeom prst="roundRect">
            <a:avLst>
              <a:gd name="adj" fmla="val 3749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75400" y="2028130"/>
            <a:ext cx="4970018" cy="234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00"/>
              </a:lnSpc>
            </a:pPr>
            <a:r>
              <a:rPr sz="1500" b="1" i="0">
                <a:solidFill>
                  <a:srgbClr val="141414"/>
                </a:solidFill>
                <a:latin typeface="Montserrat"/>
              </a:rPr>
              <a:t>Запуск и Стоп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5400" y="2377380"/>
            <a:ext cx="4970018" cy="4621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1" i="0">
                <a:solidFill>
                  <a:srgbClr val="3B3B3B"/>
                </a:solidFill>
                <a:latin typeface="Open Sans"/>
              </a:rPr>
              <a:t>Запуск</a:t>
            </a:r>
            <a:r>
              <a:rPr sz="1300" b="0" i="0">
                <a:solidFill>
                  <a:srgbClr val="3B3B3B"/>
                </a:solidFill>
                <a:latin typeface="Open Sans"/>
              </a:rPr>
              <a:t> проверяет защиты и начинает автоматическое испытание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5400" y="2953841"/>
            <a:ext cx="4970018" cy="6932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3B3B3B"/>
                </a:solidFill>
                <a:latin typeface="Open Sans"/>
              </a:rPr>
              <a:t>Открыта дверь, нажата STOP или сработала защита АКБ — запуск заблокирован, причина видна по красным индикаторам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5400" y="3761383"/>
            <a:ext cx="4970018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1" i="0">
                <a:solidFill>
                  <a:srgbClr val="3B3B3B"/>
                </a:solidFill>
                <a:latin typeface="Open Sans"/>
              </a:rPr>
              <a:t>Стоп</a:t>
            </a:r>
            <a:r>
              <a:rPr sz="1300" b="0" i="0">
                <a:solidFill>
                  <a:srgbClr val="3B3B3B"/>
                </a:solidFill>
                <a:latin typeface="Open Sans"/>
              </a:rPr>
              <a:t> завершает испытание и останавливает моторы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14 · Пресеты, запуск и остановка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3 · ГРАФИК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874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График реального времени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799530"/>
            <a:ext cx="5029200" cy="3613150"/>
          </a:xfrm>
          <a:prstGeom prst="roundRect">
            <a:avLst>
              <a:gd name="adj" fmla="val 2811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089" y="1901130"/>
            <a:ext cx="4824622" cy="34099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96000" y="1799530"/>
            <a:ext cx="25908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48400" y="1951930"/>
            <a:ext cx="237998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Серии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8400" y="2205930"/>
            <a:ext cx="2379980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напряжение, ток, мощность, тяга, газ — выбор линий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88400" y="1799530"/>
            <a:ext cx="25908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40800" y="1951930"/>
            <a:ext cx="237998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Окно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40800" y="2205930"/>
            <a:ext cx="2379980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видимый интервал времени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0" y="2880420"/>
            <a:ext cx="2590800" cy="1189534"/>
          </a:xfrm>
          <a:prstGeom prst="roundRect">
            <a:avLst>
              <a:gd name="adj" fmla="val 747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48400" y="3032820"/>
            <a:ext cx="237998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Сглаж.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3286820"/>
            <a:ext cx="2379980" cy="63073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убирает мелкие колебания и «пилу»; размер окна — в соседнем поле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88400" y="2880420"/>
            <a:ext cx="2590800" cy="1189534"/>
          </a:xfrm>
          <a:prstGeom prst="roundRect">
            <a:avLst>
              <a:gd name="adj" fmla="val 747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940800" y="3032820"/>
            <a:ext cx="237998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Zoom+ / Zoom− / Сброс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40800" y="3286820"/>
            <a:ext cx="2379980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масштаб и возврат к последним данным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6000" y="4171553"/>
            <a:ext cx="25908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248400" y="4323953"/>
            <a:ext cx="237998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Пауза / Очистить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8400" y="4577953"/>
            <a:ext cx="2379980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остановить обновление или убрать точки с экрана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88400" y="4171553"/>
            <a:ext cx="25908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940800" y="4323953"/>
            <a:ext cx="2379980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Курсор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0800" y="4577953"/>
            <a:ext cx="2379980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вертикальная линия; время и значения — под графиком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800" y="5577780"/>
            <a:ext cx="10566400" cy="485080"/>
          </a:xfrm>
          <a:prstGeom prst="roundRect">
            <a:avLst>
              <a:gd name="adj" fmla="val 18326"/>
            </a:avLst>
          </a:prstGeom>
          <a:solidFill>
            <a:srgbClr val="F1F1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6" name="Picture 25" descr="graph_svg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5705971"/>
            <a:ext cx="228600" cy="228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346200" y="5704780"/>
            <a:ext cx="10176256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141414"/>
                </a:solidFill>
                <a:latin typeface="Open Sans"/>
              </a:rPr>
              <a:t>Сглаживание меняет только отображение — сохранённые исходные данные остаются прежними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15 · График реального времени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4 · НАСТРОЙКИ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Калибровка датчиков: y = k × x + 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24930"/>
            <a:ext cx="6172200" cy="3422650"/>
          </a:xfrm>
          <a:prstGeom prst="roundRect">
            <a:avLst>
              <a:gd name="adj" fmla="val 296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7942"/>
            <a:ext cx="5969000" cy="321662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39000" y="1824930"/>
            <a:ext cx="4140200" cy="641350"/>
          </a:xfrm>
          <a:prstGeom prst="roundRect">
            <a:avLst>
              <a:gd name="adj" fmla="val 13861"/>
            </a:avLst>
          </a:prstGeom>
          <a:solidFill>
            <a:srgbClr val="25A3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16800" y="1977330"/>
            <a:ext cx="3923538" cy="336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00"/>
              </a:lnSpc>
            </a:pPr>
            <a:r>
              <a:rPr sz="2000" b="1" i="0">
                <a:solidFill>
                  <a:srgbClr val="FFFFFF"/>
                </a:solidFill>
                <a:latin typeface="JetBrains Mono"/>
              </a:rPr>
              <a:t>y = k × x + 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39000" y="2567880"/>
            <a:ext cx="41402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91400" y="2720280"/>
            <a:ext cx="397586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k и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91400" y="2974280"/>
            <a:ext cx="3975862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1" i="0">
                <a:solidFill>
                  <a:srgbClr val="3B3B3B"/>
                </a:solidFill>
                <a:latin typeface="Open Sans"/>
              </a:rPr>
              <a:t>k</a:t>
            </a:r>
            <a:r>
              <a:rPr sz="1200" b="0" i="0">
                <a:solidFill>
                  <a:srgbClr val="3B3B3B"/>
                </a:solidFill>
                <a:latin typeface="Open Sans"/>
              </a:rPr>
              <a:t> — масштаб измерения, </a:t>
            </a:r>
            <a:r>
              <a:rPr sz="1200" b="1" i="0">
                <a:solidFill>
                  <a:srgbClr val="3B3B3B"/>
                </a:solidFill>
                <a:latin typeface="Open Sans"/>
              </a:rPr>
              <a:t>b</a:t>
            </a:r>
            <a:r>
              <a:rPr sz="1200" b="0" i="0">
                <a:solidFill>
                  <a:srgbClr val="3B3B3B"/>
                </a:solidFill>
                <a:latin typeface="Open Sans"/>
              </a:rPr>
              <a:t> — смещение нулевой точки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39000" y="3648770"/>
            <a:ext cx="4140200" cy="769045"/>
          </a:xfrm>
          <a:prstGeom prst="roundRect">
            <a:avLst>
              <a:gd name="adj" fmla="val 11559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91400" y="3801170"/>
            <a:ext cx="397586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Что калибруется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1400" y="4055170"/>
            <a:ext cx="3975862" cy="21024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напряжение и ток обоих каналов, датчик тяги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9000" y="4519414"/>
            <a:ext cx="41402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391400" y="4671814"/>
            <a:ext cx="397586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Как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1400" y="4925814"/>
            <a:ext cx="3975862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вручную или расчётом по эталонным значениям: «Калибровать», «Калибровать U1 + U2»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16 · Калибровка датчиков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4 · ЗАЩИТА ПИТАНИЯ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187450"/>
            <a:ext cx="9574530" cy="893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Защита питания: аккумулятор или блок питания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246511"/>
            <a:ext cx="5969000" cy="2471043"/>
          </a:xfrm>
          <a:prstGeom prst="roundRect">
            <a:avLst>
              <a:gd name="adj" fmla="val 3597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2424311"/>
            <a:ext cx="5807202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141414"/>
                </a:solidFill>
                <a:latin typeface="Montserrat"/>
              </a:rPr>
              <a:t>Режим АКБ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729111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800" y="2729111"/>
            <a:ext cx="5467096" cy="205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Тип: LiPo или LiHV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3023691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0800" y="3023691"/>
            <a:ext cx="5467096" cy="4113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Банки S — автоматически или в поле «Банок, S»; проверить и «Подтвердить S»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523952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0800" y="3523952"/>
            <a:ext cx="5467096" cy="205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Минимальное напряжение — вручную; </a:t>
            </a:r>
            <a:r>
              <a:rPr sz="1200" b="1" i="0">
                <a:solidFill>
                  <a:srgbClr val="3B3B3B"/>
                </a:solidFill>
                <a:latin typeface="Open Sans"/>
              </a:rPr>
              <a:t>0</a:t>
            </a:r>
            <a:r>
              <a:rPr sz="1200" b="0" i="0">
                <a:solidFill>
                  <a:srgbClr val="3B3B3B"/>
                </a:solidFill>
                <a:latin typeface="Open Sans"/>
              </a:rPr>
              <a:t> = 3,5 В ×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818533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0800" y="3818533"/>
            <a:ext cx="5467096" cy="205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«Применить» активирует защиту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600" y="4113113"/>
            <a:ext cx="5807202" cy="4266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В режиме </a:t>
            </a:r>
            <a:r>
              <a:rPr sz="1200" b="1" i="0">
                <a:solidFill>
                  <a:srgbClr val="6C7073"/>
                </a:solidFill>
                <a:latin typeface="Open Sans"/>
              </a:rPr>
              <a:t>БП</a:t>
            </a:r>
            <a:r>
              <a:rPr sz="1200" b="0" i="0">
                <a:solidFill>
                  <a:srgbClr val="6C7073"/>
                </a:solidFill>
                <a:latin typeface="Open Sans"/>
              </a:rPr>
              <a:t> контроль разряда отключён — предполагается лабораторный источник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934200" y="2246511"/>
          <a:ext cx="4445000" cy="160913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89200"/>
                <a:gridCol w="1955800"/>
              </a:tblGrid>
              <a:tr h="319286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Аккумулятор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Напряжение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2246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LiPo, максимум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4,20 В на банку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2246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LiHV, максимум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4,35 В на банку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2246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Рекомендуемый минимум</a:t>
                      </a:r>
                    </a:p>
                  </a:txBody>
                  <a:tcPr marT="53340" marR="91440" marB="53340" marL="91440" anchor="t">
                    <a:solidFill>
                      <a:srgbClr val="E3F3FB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1" i="0">
                          <a:solidFill>
                            <a:srgbClr val="141414"/>
                          </a:solidFill>
                          <a:latin typeface="Open Sans"/>
                        </a:rPr>
                        <a:t>3,50 В на банку</a:t>
                      </a:r>
                    </a:p>
                  </a:txBody>
                  <a:tcPr marT="53340" marR="91440" marB="53340" marL="91440" anchor="t">
                    <a:solidFill>
                      <a:srgbClr val="E3F3FB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  <a:tr h="322461"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Число банок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39"/>
                        </a:lnSpc>
                      </a:pPr>
                      <a:r>
                        <a:rPr sz="1200" b="0" i="0">
                          <a:solidFill>
                            <a:srgbClr val="141414"/>
                          </a:solidFill>
                          <a:latin typeface="Open Sans"/>
                        </a:rPr>
                        <a:t>от 1S до 16S</a:t>
                      </a:r>
                    </a:p>
                  </a:txBody>
                  <a:tcPr marT="53340" marR="91440" marB="53340" marL="91440" anchor="t">
                    <a:solidFill>
                      <a:srgbClr val="FFFFFF"/>
                    </a:solidFill>
                    <a:lnB w="6350" cap="flat" cmpd="sng">
                      <a:solidFill>
                        <a:srgbClr val="DEDBD2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934200" y="3960416"/>
            <a:ext cx="4445000" cy="893961"/>
          </a:xfrm>
          <a:prstGeom prst="roundRect">
            <a:avLst>
              <a:gd name="adj" fmla="val 9944"/>
            </a:avLst>
          </a:prstGeom>
          <a:solidFill>
            <a:srgbClr val="E3F3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" name="Picture 17" descr="power_sv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0" y="4293096"/>
            <a:ext cx="22860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467600" y="4087416"/>
            <a:ext cx="3871214" cy="639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200" b="0" i="0">
                <a:solidFill>
                  <a:srgbClr val="141414"/>
                </a:solidFill>
                <a:latin typeface="Open Sans"/>
              </a:rPr>
              <a:t>Одно и то же общее напряжение может соответствовать разному числу банок — проверяйте S вручную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2800" y="5019477"/>
            <a:ext cx="10566400" cy="680641"/>
          </a:xfrm>
          <a:prstGeom prst="roundRect">
            <a:avLst>
              <a:gd name="adj" fmla="val 11195"/>
            </a:avLst>
          </a:prstGeom>
          <a:solidFill>
            <a:srgbClr val="25A3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90600" y="5146477"/>
            <a:ext cx="10542524" cy="4266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200" b="1" i="0">
                <a:solidFill>
                  <a:srgbClr val="FFFFFF"/>
                </a:solidFill>
                <a:latin typeface="Open Sans"/>
              </a:rPr>
              <a:t>Служебные настройки</a:t>
            </a:r>
            <a:r>
              <a:rPr sz="1200" b="0" i="0">
                <a:solidFill>
                  <a:srgbClr val="FFFFFF"/>
                </a:solidFill>
                <a:latin typeface="Open Sans"/>
              </a:rPr>
              <a:t> (администратор): запрет игнорировать открытую дверь, обязательный минимальный порог, блокировка пользовательских настроек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17 · Защита питания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4 · СОХРАНЕНИЕ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Где хранятся настройки и результаты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24930"/>
            <a:ext cx="4064000" cy="2152452"/>
          </a:xfrm>
          <a:prstGeom prst="roundRect">
            <a:avLst>
              <a:gd name="adj" fmla="val 4130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2002730"/>
            <a:ext cx="3845052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141414"/>
                </a:solidFill>
                <a:latin typeface="Montserrat"/>
              </a:rPr>
              <a:t>Настройки — файл .ini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320230"/>
            <a:ext cx="3845052" cy="4329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200" b="1" i="0">
                <a:solidFill>
                  <a:srgbClr val="3B3B3B"/>
                </a:solidFill>
                <a:latin typeface="Open Sans"/>
              </a:rPr>
              <a:t>Сохранить в файл</a:t>
            </a:r>
            <a:r>
              <a:rPr sz="1200" b="0" i="0">
                <a:solidFill>
                  <a:srgbClr val="3B3B3B"/>
                </a:solidFill>
                <a:latin typeface="Open Sans"/>
              </a:rPr>
              <a:t> — калибровки и защита питания в </a:t>
            </a:r>
            <a:r>
              <a:rPr sz="1200" b="0" i="0">
                <a:solidFill>
                  <a:srgbClr val="3B3B3B"/>
                </a:solidFill>
                <a:latin typeface="JetBrains Mono"/>
              </a:rPr>
              <a:t>.ini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600" y="2854821"/>
            <a:ext cx="3845052" cy="213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200" b="1" i="0">
                <a:solidFill>
                  <a:srgbClr val="3B3B3B"/>
                </a:solidFill>
                <a:latin typeface="Open Sans"/>
              </a:rPr>
              <a:t>Загрузить из файла</a:t>
            </a:r>
            <a:r>
              <a:rPr sz="1200" b="0" i="0">
                <a:solidFill>
                  <a:srgbClr val="3B3B3B"/>
                </a:solidFill>
                <a:latin typeface="Open Sans"/>
              </a:rPr>
              <a:t> — восстановить настройки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0600" y="3169741"/>
            <a:ext cx="3708400" cy="629841"/>
          </a:xfrm>
          <a:prstGeom prst="roundRect">
            <a:avLst>
              <a:gd name="adj" fmla="val 12098"/>
            </a:avLst>
          </a:prstGeom>
          <a:solidFill>
            <a:srgbClr val="E3F3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117600" y="3271341"/>
            <a:ext cx="3583432" cy="42664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200" b="0" i="0">
                <a:solidFill>
                  <a:srgbClr val="1A76A8"/>
                </a:solidFill>
                <a:latin typeface="Open Sans"/>
              </a:rPr>
              <a:t>Файл на компьютере не заменяет запись калибровок в память стенда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824930"/>
            <a:ext cx="6350000" cy="2152452"/>
          </a:xfrm>
          <a:prstGeom prst="roundRect">
            <a:avLst>
              <a:gd name="adj" fmla="val 4130"/>
            </a:avLst>
          </a:prstGeom>
          <a:solidFill>
            <a:srgbClr val="25A3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207000" y="2002730"/>
            <a:ext cx="6199632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Каждое испытание — своя папка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7000" y="2320230"/>
            <a:ext cx="6199632" cy="222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FFFFFF"/>
                </a:solidFill>
                <a:latin typeface="JetBrains Mono"/>
              </a:rPr>
              <a:t>results/&lt;название&gt;_&lt;дата&gt;/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7000" y="2644080"/>
            <a:ext cx="6199632" cy="89376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60"/>
              </a:lnSpc>
            </a:pPr>
            <a:r>
              <a:rPr sz="1100" b="0" i="0">
                <a:solidFill>
                  <a:srgbClr val="FFFFFF"/>
                </a:solidFill>
                <a:latin typeface="JetBrains Mono"/>
              </a:rPr>
              <a:t>├─ исходные измерения — Excel</a:t>
            </a:r>
            <a:br/>
            <a:r>
              <a:rPr sz="1100" b="0" i="0">
                <a:solidFill>
                  <a:srgbClr val="FFFFFF"/>
                </a:solidFill>
                <a:latin typeface="JetBrains Mono"/>
              </a:rPr>
              <a:t>├─ усреднённый отчёт</a:t>
            </a:r>
            <a:br/>
            <a:r>
              <a:rPr sz="1100" b="0" i="0">
                <a:solidFill>
                  <a:srgbClr val="FFFFFF"/>
                </a:solidFill>
                <a:latin typeface="JetBrains Mono"/>
              </a:rPr>
              <a:t>├─ data.csv — для повторного просмотра</a:t>
            </a:r>
            <a:br/>
            <a:r>
              <a:rPr sz="1100" b="0" i="0">
                <a:solidFill>
                  <a:srgbClr val="FFFFFF"/>
                </a:solidFill>
                <a:latin typeface="JetBrains Mono"/>
              </a:rPr>
              <a:t>└─ meta.json — оборудование, испытание, АКБ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800" y="4155182"/>
            <a:ext cx="10566400" cy="485080"/>
          </a:xfrm>
          <a:prstGeom prst="roundRect">
            <a:avLst>
              <a:gd name="adj" fmla="val 18326"/>
            </a:avLst>
          </a:prstGeom>
          <a:solidFill>
            <a:srgbClr val="F1F1F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" name="Picture 15" descr="graph_sv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4283373"/>
            <a:ext cx="228600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46200" y="4282182"/>
            <a:ext cx="10176256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141414"/>
                </a:solidFill>
                <a:latin typeface="Open Sans"/>
              </a:rPr>
              <a:t>Остановили вручную или из-за аварии — уже принятые со стенда измерения тоже сохраняются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18 · Сохранение результатов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5 ·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8939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Результаты: открыть и сравнить два испытания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271911"/>
            <a:ext cx="6553200" cy="3625850"/>
          </a:xfrm>
          <a:prstGeom prst="roundRect">
            <a:avLst>
              <a:gd name="adj" fmla="val 2802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6" name="Picture 5" descr="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73864"/>
            <a:ext cx="6350000" cy="342194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620000" y="2271911"/>
            <a:ext cx="37592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0" y="2424311"/>
            <a:ext cx="358343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Загрузить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78311"/>
            <a:ext cx="3583432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основной результат: папка испытания, data.csv или Excel с исходными измерениями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0000" y="3352800"/>
            <a:ext cx="37592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0" y="3505200"/>
            <a:ext cx="358343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Загрузить 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759200"/>
            <a:ext cx="3583432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второе испытание — на том же графике, другим цветом и стилем линий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0000" y="4433689"/>
            <a:ext cx="3759200" cy="979289"/>
          </a:xfrm>
          <a:prstGeom prst="roundRect">
            <a:avLst>
              <a:gd name="adj" fmla="val 9078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0" y="4586089"/>
            <a:ext cx="3583432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A76A8"/>
                </a:solidFill>
                <a:latin typeface="Montserrat"/>
              </a:rPr>
              <a:t>Очистить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840089"/>
            <a:ext cx="3583432" cy="42048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5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убирает сравнение, основной результат остаётся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19 · Страница «Результаты»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5 · РЕЗУЛЬТАТЫ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Оси, информация об испытании и экспорт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24930"/>
            <a:ext cx="3437434" cy="2161183"/>
          </a:xfrm>
          <a:prstGeom prst="roundRect">
            <a:avLst>
              <a:gd name="adj" fmla="val 411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2002730"/>
            <a:ext cx="3199689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141414"/>
                </a:solidFill>
                <a:latin typeface="Montserrat"/>
              </a:rPr>
              <a:t>График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3075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800" y="2307530"/>
            <a:ext cx="2859583" cy="205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1" i="0">
                <a:solidFill>
                  <a:srgbClr val="3B3B3B"/>
                </a:solidFill>
                <a:latin typeface="Open Sans"/>
              </a:rPr>
              <a:t>Ось X</a:t>
            </a:r>
            <a:r>
              <a:rPr sz="1200" b="0" i="0">
                <a:solidFill>
                  <a:srgbClr val="3B3B3B"/>
                </a:solidFill>
                <a:latin typeface="Open Sans"/>
              </a:rPr>
              <a:t> — один параметр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602111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0800" y="2602111"/>
            <a:ext cx="2859583" cy="4113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1" i="0">
                <a:solidFill>
                  <a:srgbClr val="3B3B3B"/>
                </a:solidFill>
                <a:latin typeface="Open Sans"/>
              </a:rPr>
              <a:t>Ось Y</a:t>
            </a:r>
            <a:r>
              <a:rPr sz="1200" b="0" i="0">
                <a:solidFill>
                  <a:srgbClr val="3B3B3B"/>
                </a:solidFill>
                <a:latin typeface="Open Sans"/>
              </a:rPr>
              <a:t> — несколько: тяга, ток, напряжение, мощность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102372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0800" y="3102372"/>
            <a:ext cx="2859583" cy="205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Zoom+, Zoom−, Сброс и сглаживание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396952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0800" y="3396952"/>
            <a:ext cx="2859583" cy="4113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20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Курсор показывает значения обоих испытаний в точке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7234" y="1824930"/>
            <a:ext cx="3437533" cy="2161183"/>
          </a:xfrm>
          <a:prstGeom prst="roundRect">
            <a:avLst>
              <a:gd name="adj" fmla="val 4113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5034" y="2002730"/>
            <a:ext cx="3199791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141414"/>
                </a:solidFill>
                <a:latin typeface="Montserrat"/>
              </a:rPr>
              <a:t>Информация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5034" y="2307530"/>
            <a:ext cx="3199791" cy="66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название и дата, продолжительность, диапазоны напряжения и тока, мощность и тяга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5034" y="3059311"/>
            <a:ext cx="3199791" cy="441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</a:pPr>
            <a:r>
              <a:rPr sz="1200" b="0" i="0">
                <a:solidFill>
                  <a:srgbClr val="3B3B3B"/>
                </a:solidFill>
                <a:latin typeface="Open Sans"/>
              </a:rPr>
              <a:t>сведения о двигателе, ESC, пропеллере и аккумуляторе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1766" y="1824930"/>
            <a:ext cx="3437434" cy="2161183"/>
          </a:xfrm>
          <a:prstGeom prst="roundRect">
            <a:avLst>
              <a:gd name="adj" fmla="val 4113"/>
            </a:avLst>
          </a:prstGeom>
          <a:solidFill>
            <a:srgbClr val="25A3E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19566" y="2002730"/>
            <a:ext cx="3199689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Экспорт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19566" y="2307530"/>
            <a:ext cx="3199689" cy="220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</a:pPr>
            <a:r>
              <a:rPr sz="1200" b="1" i="0">
                <a:solidFill>
                  <a:srgbClr val="FFFFFF"/>
                </a:solidFill>
                <a:latin typeface="Open Sans"/>
              </a:rPr>
              <a:t>PNG</a:t>
            </a:r>
            <a:r>
              <a:rPr sz="1200" b="0" i="0">
                <a:solidFill>
                  <a:srgbClr val="FFFFFF"/>
                </a:solidFill>
                <a:latin typeface="Open Sans"/>
              </a:rPr>
              <a:t> — текущее изображение графика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566" y="2617391"/>
            <a:ext cx="3199689" cy="441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</a:pPr>
            <a:r>
              <a:rPr sz="1200" b="1" i="0">
                <a:solidFill>
                  <a:srgbClr val="FFFFFF"/>
                </a:solidFill>
                <a:latin typeface="Open Sans"/>
              </a:rPr>
              <a:t>Excel: сырые данные (A)</a:t>
            </a:r>
            <a:r>
              <a:rPr sz="1200" b="0" i="0">
                <a:solidFill>
                  <a:srgbClr val="FFFFFF"/>
                </a:solidFill>
                <a:latin typeface="Open Sans"/>
              </a:rPr>
              <a:t> — все измерения без усреднения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566" y="3148211"/>
            <a:ext cx="3199689" cy="441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739"/>
              </a:lnSpc>
            </a:pPr>
            <a:r>
              <a:rPr sz="1200" b="1" i="0">
                <a:solidFill>
                  <a:srgbClr val="FFFFFF"/>
                </a:solidFill>
                <a:latin typeface="Open Sans"/>
              </a:rPr>
              <a:t>Excel: отчёт (A)</a:t>
            </a:r>
            <a:r>
              <a:rPr sz="1200" b="0" i="0">
                <a:solidFill>
                  <a:srgbClr val="FFFFFF"/>
                </a:solidFill>
                <a:latin typeface="Open Sans"/>
              </a:rPr>
              <a:t> — сгруппировано и усреднено по уровням газа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2800" y="4163913"/>
            <a:ext cx="10566400" cy="882650"/>
          </a:xfrm>
          <a:prstGeom prst="roundRect">
            <a:avLst>
              <a:gd name="adj" fmla="val 11510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25" name="Picture 24" descr="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66028"/>
            <a:ext cx="5334000" cy="67842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20 · График и экспорт результатов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A3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fety-system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FFFFFF"/>
                </a:solidFill>
                <a:latin typeface="Open Sans"/>
              </a:rPr>
              <a:t>6 · 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763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Стенд сам блокирует опасный запуск</a:t>
            </a:r>
          </a:p>
        </p:txBody>
      </p:sp>
      <p:pic>
        <p:nvPicPr>
          <p:cNvPr id="5" name="Picture 4" descr="safety-system_sv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977330"/>
            <a:ext cx="279400" cy="279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1977330"/>
            <a:ext cx="2786615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Защитные двери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218630"/>
            <a:ext cx="2786615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обе двери должны быть закрыты</a:t>
            </a:r>
          </a:p>
        </p:txBody>
      </p:sp>
      <p:pic>
        <p:nvPicPr>
          <p:cNvPr id="8" name="Picture 7" descr="safety-system_sv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1977330"/>
            <a:ext cx="279400" cy="279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05600" y="1977330"/>
            <a:ext cx="3707293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Кнопка STOP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218630"/>
            <a:ext cx="3707293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аппаратная аварийная остановка отпущена</a:t>
            </a:r>
          </a:p>
        </p:txBody>
      </p:sp>
      <p:pic>
        <p:nvPicPr>
          <p:cNvPr id="11" name="Picture 10" descr="safety-system_sv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2652911"/>
            <a:ext cx="27940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2652911"/>
            <a:ext cx="3587009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Аккумулятор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2894211"/>
            <a:ext cx="3587009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напряжение выше установленного порога</a:t>
            </a:r>
          </a:p>
        </p:txBody>
      </p:sp>
      <p:pic>
        <p:nvPicPr>
          <p:cNvPr id="14" name="Picture 13" descr="safety-system_svg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200" y="2652911"/>
            <a:ext cx="279400" cy="279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05600" y="2652911"/>
            <a:ext cx="2956362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Связь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2894211"/>
            <a:ext cx="2956362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обмен данными со стендом по USB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3379291"/>
            <a:ext cx="10566400" cy="562570"/>
          </a:xfrm>
          <a:prstGeom prst="roundRect">
            <a:avLst>
              <a:gd name="adj" fmla="val 15802"/>
            </a:avLst>
          </a:prstGeom>
          <a:solidFill>
            <a:srgbClr val="1A76A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6000" y="3531691"/>
            <a:ext cx="10490200" cy="25777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30"/>
              </a:lnSpc>
            </a:pPr>
            <a:r>
              <a:rPr sz="1400" b="0" i="0">
                <a:solidFill>
                  <a:srgbClr val="FFFFFF"/>
                </a:solidFill>
                <a:latin typeface="Open Sans"/>
              </a:rPr>
              <a:t>Авария во время работы — моторы останавливаются, газ сбрасывается, ручное управление блокируется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800" y="4195862"/>
            <a:ext cx="1754783" cy="273050"/>
          </a:xfrm>
          <a:prstGeom prst="roundRect">
            <a:avLst>
              <a:gd name="adj" fmla="val 50000"/>
            </a:avLst>
          </a:prstGeom>
          <a:solidFill>
            <a:srgbClr val="C6282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77900" y="4246662"/>
            <a:ext cx="1492720" cy="171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320"/>
              </a:lnSpc>
            </a:pPr>
            <a:r>
              <a:rPr sz="1100" b="1" i="0">
                <a:solidFill>
                  <a:srgbClr val="FFFFFF"/>
                </a:solidFill>
                <a:latin typeface="Montserrat"/>
              </a:rPr>
              <a:t>АВАРИЙНАЯ СТОП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4583" y="4211737"/>
            <a:ext cx="3781589" cy="2413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0" i="0">
                <a:solidFill>
                  <a:srgbClr val="FFFFFF"/>
                </a:solidFill>
                <a:latin typeface="Open Sans"/>
              </a:rPr>
              <a:t>или клавиша </a:t>
            </a:r>
            <a:r>
              <a:rPr sz="1400" b="1" i="0">
                <a:solidFill>
                  <a:srgbClr val="FFFFFF"/>
                </a:solidFill>
                <a:latin typeface="Open Sans"/>
              </a:rPr>
              <a:t>Esc</a:t>
            </a:r>
            <a:r>
              <a:rPr sz="1400" b="0" i="0">
                <a:solidFill>
                  <a:srgbClr val="FFFFFF"/>
                </a:solidFill>
                <a:latin typeface="Open Sans"/>
              </a:rPr>
              <a:t> — экстренная остановка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E3F3FB"/>
                </a:solidFill>
                <a:latin typeface="Open Sans"/>
              </a:rPr>
              <a:t>21 · Система безопасности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6 · ПОРЯДОК ИСПЫТАНИЯ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001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Рекомендуемый порядок испытания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24930"/>
            <a:ext cx="2565400" cy="2835077"/>
          </a:xfrm>
          <a:prstGeom prst="roundRect">
            <a:avLst>
              <a:gd name="adj" fmla="val 3465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1977330"/>
            <a:ext cx="2301494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Подключение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2694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0800" y="2269430"/>
            <a:ext cx="1961388" cy="1971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Подключитесь к стенду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600" y="25615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0800" y="2561530"/>
            <a:ext cx="1961388" cy="5914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Проверьте зелёные индикаторы дверей, STOP и АКБ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0600" y="3241873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0800" y="3241873"/>
            <a:ext cx="1961388" cy="3942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Проверьте U, I и тягу при нулевом газе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0600" y="3725069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0800" y="3725069"/>
            <a:ext cx="1961388" cy="1971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Обнулите тягу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9800" y="1824930"/>
            <a:ext cx="2565400" cy="2835077"/>
          </a:xfrm>
          <a:prstGeom prst="roundRect">
            <a:avLst>
              <a:gd name="adj" fmla="val 3465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657600" y="1977330"/>
            <a:ext cx="2301494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Настройка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2694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87800" y="2269430"/>
            <a:ext cx="1961388" cy="3942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Заполните сведения об оборудовании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752626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87800" y="2752626"/>
            <a:ext cx="1961388" cy="3942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Выберите один или два канала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235821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87800" y="3235821"/>
            <a:ext cx="1961388" cy="5914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Настройте режим, диапазон газа, время и шаг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916164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87800" y="3916164"/>
            <a:ext cx="1961388" cy="5914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При необходимости кратко проверьте направление на 7 %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46800" y="1824930"/>
            <a:ext cx="2565400" cy="2835077"/>
          </a:xfrm>
          <a:prstGeom prst="roundRect">
            <a:avLst>
              <a:gd name="adj" fmla="val 3465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24600" y="1977330"/>
            <a:ext cx="2301494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Испытание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4600" y="22694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4800" y="2269430"/>
            <a:ext cx="1961388" cy="3942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Закройте и заблокируйте защитную зону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24600" y="2752626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4800" y="2752626"/>
            <a:ext cx="1961388" cy="1971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Нажмите </a:t>
            </a:r>
            <a:r>
              <a:rPr sz="1150" b="1" i="0">
                <a:solidFill>
                  <a:srgbClr val="3B3B3B"/>
                </a:solidFill>
                <a:latin typeface="Open Sans"/>
              </a:rPr>
              <a:t>Запуск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0" y="3044726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4800" y="3044726"/>
            <a:ext cx="1961388" cy="78859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Следите за телеметрией и графиком, не приближаясь к вращающимся деталям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13800" y="1824930"/>
            <a:ext cx="2565400" cy="2835077"/>
          </a:xfrm>
          <a:prstGeom prst="roundRect">
            <a:avLst>
              <a:gd name="adj" fmla="val 3465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991600" y="1977330"/>
            <a:ext cx="2301494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141414"/>
                </a:solidFill>
                <a:latin typeface="Montserrat"/>
              </a:rPr>
              <a:t>Завершение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1600" y="2269430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1800" y="2269430"/>
            <a:ext cx="1961388" cy="39429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Убедитесь, что моторы остановлены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91600" y="2752626"/>
            <a:ext cx="260858" cy="203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60"/>
              </a:lnSpc>
            </a:pPr>
            <a:r>
              <a:rPr sz="1300" b="1" i="0">
                <a:solidFill>
                  <a:srgbClr val="25A3E1"/>
                </a:solidFill>
                <a:latin typeface="Montserrat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1800" y="2752626"/>
            <a:ext cx="1961388" cy="591443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552"/>
              </a:lnSpc>
            </a:pPr>
            <a:r>
              <a:rPr sz="1150" b="0" i="0">
                <a:solidFill>
                  <a:srgbClr val="3B3B3B"/>
                </a:solidFill>
                <a:latin typeface="Open Sans"/>
              </a:rPr>
              <a:t>Откройте результат на странице «Результаты» и сформируйте отчёт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22 · Порядок испытания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A3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fety-system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FFFFFF"/>
                </a:solidFill>
                <a:latin typeface="Open Sans"/>
              </a:rPr>
              <a:t>6 · НЕШТАТНАЯ СИТУАЦИЯ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255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1" i="0">
                <a:solidFill>
                  <a:srgbClr val="FFFFFF"/>
                </a:solidFill>
                <a:latin typeface="Montserrat"/>
              </a:rPr>
              <a:t>Нештатная ситуация: сначала остановка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75730"/>
            <a:ext cx="5207000" cy="2012950"/>
          </a:xfrm>
          <a:prstGeom prst="roundRect">
            <a:avLst>
              <a:gd name="adj" fmla="val 4416"/>
            </a:avLst>
          </a:prstGeom>
          <a:solidFill>
            <a:srgbClr val="1A76A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16000" y="2078930"/>
            <a:ext cx="4970018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Немедленно остановите испытание, если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2409130"/>
            <a:ext cx="4970018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</a:t>
            </a:r>
            <a:r>
              <a:rPr sz="1300" b="0" i="0">
                <a:solidFill>
                  <a:srgbClr val="FFFFFF"/>
                </a:solidFill>
                <a:latin typeface="Open Sans"/>
              </a:rPr>
              <a:t>посторонние звуки или сильная вибрация</a:t>
            </a:r>
          </a:p>
          <a:p>
            <a:pPr algn="l">
              <a:lnSpc>
                <a:spcPts val="195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</a:t>
            </a:r>
            <a:r>
              <a:rPr sz="1300" b="0" i="0">
                <a:solidFill>
                  <a:srgbClr val="FFFFFF"/>
                </a:solidFill>
                <a:latin typeface="Open Sans"/>
              </a:rPr>
              <a:t>ослабло крепление двигателя или винта</a:t>
            </a:r>
          </a:p>
          <a:p>
            <a:pPr algn="l">
              <a:lnSpc>
                <a:spcPts val="195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</a:t>
            </a:r>
            <a:r>
              <a:rPr sz="1300" b="0" i="0">
                <a:solidFill>
                  <a:srgbClr val="FFFFFF"/>
                </a:solidFill>
                <a:latin typeface="Open Sans"/>
              </a:rPr>
              <a:t>в защитной зоне посторонний предмет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5730"/>
            <a:ext cx="5207000" cy="2012950"/>
          </a:xfrm>
          <a:prstGeom prst="roundRect">
            <a:avLst>
              <a:gd name="adj" fmla="val 4416"/>
            </a:avLst>
          </a:prstGeom>
          <a:solidFill>
            <a:srgbClr val="1A76A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9" name="Picture 8" descr="emergency_sv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5400" y="2078930"/>
            <a:ext cx="254000" cy="25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31000" y="2097980"/>
            <a:ext cx="4451275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Дым, гарь, искры, перегрев, возгорание АКБ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5400" y="2447230"/>
            <a:ext cx="4970018" cy="123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</a:t>
            </a:r>
            <a:r>
              <a:rPr sz="1300" b="0" i="0">
                <a:solidFill>
                  <a:srgbClr val="FFFFFF"/>
                </a:solidFill>
                <a:latin typeface="Open Sans"/>
              </a:rPr>
              <a:t>нажмите аппаратную кнопку аварийной остановки</a:t>
            </a:r>
          </a:p>
          <a:p>
            <a:pPr algn="l">
              <a:lnSpc>
                <a:spcPts val="195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</a:t>
            </a:r>
            <a:r>
              <a:rPr sz="1300" b="0" i="0">
                <a:solidFill>
                  <a:srgbClr val="FFFFFF"/>
                </a:solidFill>
                <a:latin typeface="Open Sans"/>
              </a:rPr>
              <a:t>если безопасно — отключите силовое питание</a:t>
            </a:r>
          </a:p>
          <a:p>
            <a:pPr algn="l">
              <a:lnSpc>
                <a:spcPts val="195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</a:t>
            </a:r>
            <a:r>
              <a:rPr sz="1300" b="0" i="0">
                <a:solidFill>
                  <a:srgbClr val="FFFFFF"/>
                </a:solidFill>
                <a:latin typeface="Open Sans"/>
              </a:rPr>
              <a:t>не открывайте двери до полной остановки винта</a:t>
            </a:r>
          </a:p>
          <a:p>
            <a:pPr algn="l">
              <a:lnSpc>
                <a:spcPts val="195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• </a:t>
            </a:r>
            <a:r>
              <a:rPr sz="1300" b="0" i="0">
                <a:solidFill>
                  <a:srgbClr val="FFFFFF"/>
                </a:solidFill>
                <a:latin typeface="Open Sans"/>
              </a:rPr>
              <a:t>горящий АКБ руками не трогать — правила пожарной безопасности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4091880"/>
            <a:ext cx="10908792" cy="47863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85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Открытая дверь или потеря USB тоже остановят испытание и данные сохранятся — но для штатной остановки так делать не нужно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E3F3FB"/>
                </a:solidFill>
                <a:latin typeface="Open Sans"/>
              </a:rPr>
              <a:t>23 · Действия при нештатной ситуации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lan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1A76A8"/>
                </a:solidFill>
                <a:latin typeface="Open Sans"/>
              </a:rPr>
              <a:t>6 · ТЕХНИКА БЕЗОПАСНОСТИ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25550"/>
            <a:ext cx="9574530" cy="4469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520"/>
              </a:lnSpc>
            </a:pPr>
            <a:r>
              <a:rPr sz="3200" b="0" i="0">
                <a:solidFill>
                  <a:srgbClr val="141414"/>
                </a:solidFill>
                <a:latin typeface="Montserrat"/>
              </a:rPr>
              <a:t>Пять правил техники безопасности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1875730"/>
            <a:ext cx="10566400" cy="565150"/>
          </a:xfrm>
          <a:prstGeom prst="roundRect">
            <a:avLst>
              <a:gd name="adj" fmla="val 15730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90600" y="2002730"/>
            <a:ext cx="287020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00"/>
              </a:lnSpc>
            </a:pPr>
            <a:r>
              <a:rPr sz="2000" b="1" i="0">
                <a:solidFill>
                  <a:srgbClr val="25A3E1"/>
                </a:solidFill>
                <a:latin typeface="Montserra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22400" y="2029718"/>
            <a:ext cx="1009777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</a:pPr>
            <a:r>
              <a:rPr sz="1500" b="0" i="0">
                <a:solidFill>
                  <a:srgbClr val="141414"/>
                </a:solidFill>
                <a:latin typeface="Open Sans"/>
              </a:rPr>
              <a:t>Мотор, пропеллер и прочие элементы зафиксированы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2800" y="2542480"/>
            <a:ext cx="10566400" cy="565150"/>
          </a:xfrm>
          <a:prstGeom prst="roundRect">
            <a:avLst>
              <a:gd name="adj" fmla="val 15730"/>
            </a:avLst>
          </a:prstGeom>
          <a:solidFill>
            <a:srgbClr val="E3F3FB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90600" y="2669480"/>
            <a:ext cx="287020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00"/>
              </a:lnSpc>
            </a:pPr>
            <a:r>
              <a:rPr sz="2000" b="1" i="0">
                <a:solidFill>
                  <a:srgbClr val="25A3E1"/>
                </a:solidFill>
                <a:latin typeface="Montserrat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2400" y="2696468"/>
            <a:ext cx="1009777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</a:pPr>
            <a:r>
              <a:rPr sz="1500" b="0" i="0">
                <a:solidFill>
                  <a:srgbClr val="141414"/>
                </a:solidFill>
                <a:latin typeface="Open Sans"/>
              </a:rPr>
              <a:t>Провода и электроника закреплены и при вращении не упадут в пропеллер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800" y="3209230"/>
            <a:ext cx="10566400" cy="565150"/>
          </a:xfrm>
          <a:prstGeom prst="roundRect">
            <a:avLst>
              <a:gd name="adj" fmla="val 15730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90600" y="3336230"/>
            <a:ext cx="287020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00"/>
              </a:lnSpc>
            </a:pPr>
            <a:r>
              <a:rPr sz="2000" b="1" i="0">
                <a:solidFill>
                  <a:srgbClr val="25A3E1"/>
                </a:solidFill>
                <a:latin typeface="Montserrat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2400" y="3363218"/>
            <a:ext cx="1009777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</a:pPr>
            <a:r>
              <a:rPr sz="1500" b="0" i="0">
                <a:solidFill>
                  <a:srgbClr val="141414"/>
                </a:solidFill>
                <a:latin typeface="Open Sans"/>
              </a:rPr>
              <a:t>Не просовывайте руки и предметы за решётку во время испытания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3875980"/>
            <a:ext cx="10566400" cy="565150"/>
          </a:xfrm>
          <a:prstGeom prst="roundRect">
            <a:avLst>
              <a:gd name="adj" fmla="val 15730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90600" y="4002980"/>
            <a:ext cx="287020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00"/>
              </a:lnSpc>
            </a:pPr>
            <a:r>
              <a:rPr sz="2000" b="1" i="0">
                <a:solidFill>
                  <a:srgbClr val="25A3E1"/>
                </a:solidFill>
                <a:latin typeface="Montserrat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2400" y="4029968"/>
            <a:ext cx="1009777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</a:pPr>
            <a:r>
              <a:rPr sz="1500" b="0" i="0">
                <a:solidFill>
                  <a:srgbClr val="141414"/>
                </a:solidFill>
                <a:latin typeface="Open Sans"/>
              </a:rPr>
              <a:t>Не открывайте дверь стенда во время испытания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4542730"/>
            <a:ext cx="10566400" cy="565150"/>
          </a:xfrm>
          <a:prstGeom prst="roundRect">
            <a:avLst>
              <a:gd name="adj" fmla="val 15730"/>
            </a:avLst>
          </a:prstGeom>
          <a:solidFill>
            <a:srgbClr val="F8F8F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90600" y="4669730"/>
            <a:ext cx="287020" cy="311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400"/>
              </a:lnSpc>
            </a:pPr>
            <a:r>
              <a:rPr sz="2000" b="1" i="0">
                <a:solidFill>
                  <a:srgbClr val="25A3E1"/>
                </a:solidFill>
                <a:latin typeface="Montserrat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22400" y="4696718"/>
            <a:ext cx="10097770" cy="2571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</a:pPr>
            <a:r>
              <a:rPr sz="1500" b="0" i="0">
                <a:solidFill>
                  <a:srgbClr val="141414"/>
                </a:solidFill>
                <a:latin typeface="Open Sans"/>
              </a:rPr>
              <a:t>С аккумулятором — выставьте ограничения и работайте только с ними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6C7073"/>
                </a:solidFill>
                <a:latin typeface="Open Sans"/>
              </a:rPr>
              <a:t>24 · Техника безопасности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A3E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afety-system_sv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7800" y="774700"/>
            <a:ext cx="1041400" cy="1333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12800" y="81280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1" i="0" spc="150">
                <a:solidFill>
                  <a:srgbClr val="FFFFFF"/>
                </a:solidFill>
                <a:latin typeface="Open Sans"/>
              </a:rPr>
              <a:t>ИТОГИ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276350"/>
            <a:ext cx="9574530" cy="100568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3960"/>
              </a:lnSpc>
            </a:pPr>
            <a:r>
              <a:rPr sz="3600" b="1" i="0">
                <a:solidFill>
                  <a:srgbClr val="FFFFFF"/>
                </a:solidFill>
                <a:latin typeface="Montserrat"/>
              </a:rPr>
              <a:t>Стенд ВМГ: измерить и сравнить без риска</a:t>
            </a:r>
          </a:p>
        </p:txBody>
      </p:sp>
      <p:pic>
        <p:nvPicPr>
          <p:cNvPr id="5" name="Picture 4" descr="summary_sv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536031"/>
            <a:ext cx="279400" cy="279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2536031"/>
            <a:ext cx="4839208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Подготовка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9200" y="2777331"/>
            <a:ext cx="4839208" cy="4621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крепёж, провода на ремешке, двери закрыты, STOP отпущена</a:t>
            </a:r>
          </a:p>
        </p:txBody>
      </p:sp>
      <p:pic>
        <p:nvPicPr>
          <p:cNvPr id="8" name="Picture 7" descr="summary_svg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200" y="2536031"/>
            <a:ext cx="279400" cy="279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705600" y="2536031"/>
            <a:ext cx="4839208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Перед запуском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777331"/>
            <a:ext cx="4839208" cy="4621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зелёные индикаторы, ноль тяги, сведения об оборудовании</a:t>
            </a:r>
          </a:p>
        </p:txBody>
      </p:sp>
      <p:pic>
        <p:nvPicPr>
          <p:cNvPr id="11" name="Picture 10" descr="summary_svg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" y="3417292"/>
            <a:ext cx="279400" cy="279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3417292"/>
            <a:ext cx="4839208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Испытание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658592"/>
            <a:ext cx="4839208" cy="462161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ступенчатый или непрерывный режим, контроль по графику</a:t>
            </a:r>
          </a:p>
        </p:txBody>
      </p:sp>
      <p:pic>
        <p:nvPicPr>
          <p:cNvPr id="14" name="Picture 13" descr="summary_svg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9200" y="3417292"/>
            <a:ext cx="279400" cy="279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05600" y="3417292"/>
            <a:ext cx="3669072" cy="2159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80"/>
              </a:lnSpc>
            </a:pPr>
            <a:r>
              <a:rPr sz="1400" b="1" i="0">
                <a:solidFill>
                  <a:srgbClr val="FFFFFF"/>
                </a:solidFill>
                <a:latin typeface="Montserrat"/>
              </a:rPr>
              <a:t>Результат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3658592"/>
            <a:ext cx="3669072" cy="231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20"/>
              </a:lnSpc>
            </a:pPr>
            <a:r>
              <a:rPr sz="1300" b="0" i="0">
                <a:solidFill>
                  <a:srgbClr val="FFFFFF"/>
                </a:solidFill>
                <a:latin typeface="Open Sans"/>
              </a:rPr>
              <a:t>папка results, сравнение A и B, отчёт в Excel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800" y="4374753"/>
            <a:ext cx="10566400" cy="571500"/>
          </a:xfrm>
          <a:prstGeom prst="roundRect">
            <a:avLst>
              <a:gd name="adj" fmla="val 15555"/>
            </a:avLst>
          </a:prstGeom>
          <a:solidFill>
            <a:srgbClr val="1A76A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6000" y="4527153"/>
            <a:ext cx="10490200" cy="266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100"/>
              </a:lnSpc>
            </a:pPr>
            <a:r>
              <a:rPr sz="1500" b="0" i="0">
                <a:solidFill>
                  <a:srgbClr val="FFFFFF"/>
                </a:solidFill>
                <a:latin typeface="Open Sans"/>
              </a:rPr>
              <a:t>Пределы нагрузки задаёт паспорт стенда — программа их не знает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" y="6242050"/>
            <a:ext cx="10908792" cy="2095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439"/>
              </a:lnSpc>
            </a:pPr>
            <a:r>
              <a:rPr sz="1200" b="0" i="0">
                <a:solidFill>
                  <a:srgbClr val="E3F3FB"/>
                </a:solidFill>
                <a:latin typeface="Open Sans"/>
              </a:rPr>
              <a:t>25 · Итоги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Стенд испытания винтомоторной группы Skyris</dc:title>
  <dc:subject/>
  <dc:creator>Rinat Safarov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